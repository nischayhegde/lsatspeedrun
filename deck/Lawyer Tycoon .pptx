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64a5a2159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 name is Alan and I am Nischay, we are from UT austin and our application is Lawyer Tycoon, an LSAT speedrun app. The </a:t>
            </a:r>
            <a:r>
              <a:rPr lang="en"/>
              <a:t>average</a:t>
            </a:r>
            <a:r>
              <a:rPr lang="en"/>
              <a:t> student spends 4 months studying for the LSAT. We want to cut that down to half.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Nischay+Alan</a:t>
            </a:r>
            <a:endParaRPr/>
          </a:p>
        </p:txBody>
      </p:sp>
      <p:sp>
        <p:nvSpPr>
          <p:cNvPr id="127" name="Google Shape;127;g3f64a5a2159_1_7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695d49b4e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spiky POV is that watching videos and learning concepts is ineffective.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Practicing test-taking strategies on real questions is the only way to improve a student’s LSAT score.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know this </a:t>
            </a:r>
            <a:r>
              <a:rPr lang="en"/>
              <a:t>because</a:t>
            </a:r>
            <a:r>
              <a:rPr lang="en"/>
              <a:t> LSAT questions are similar to SAT reading.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average LSAT test taker scored a 610 on SAT reading, they already have all the general knowledge required, they just need the practice.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Nischay</a:t>
            </a:r>
            <a:endParaRPr/>
          </a:p>
        </p:txBody>
      </p:sp>
      <p:sp>
        <p:nvSpPr>
          <p:cNvPr id="150" name="Google Shape;150;g3f695d49b4e_3_3: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64a5a2159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Students using popular LSAT apps like 7-sage and LSAT lab waste over 40% of their study time getting live/video instruction on concepts.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give the student targeted practice questions and immediate feedback on their reasoning process.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suggest specific test-taking strategies during each question and provide the UI for the to apply it.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Most students perform better using these strategies and all of this is adaptive based on the student’s past accuracy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Additionally, we have mock exams for students who can set aside time for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we also have an optional game-loop for students who need a motivation boost.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chose the most addictive genre of game so students are encouraged to answer more questions on our app, and therefore, progress quicker.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Nischay</a:t>
            </a:r>
            <a:endParaRPr/>
          </a:p>
        </p:txBody>
      </p:sp>
      <p:sp>
        <p:nvSpPr>
          <p:cNvPr id="158" name="Google Shape;158;g3f64a5a2159_1_9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695d49b4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f695d49b4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to our demo. Here is our mcq UI</a:t>
            </a:r>
            <a:r>
              <a:rPr lang="en"/>
              <a:t>. It is a</a:t>
            </a:r>
            <a:r>
              <a:rPr lang="en"/>
              <a:t> novel design</a:t>
            </a:r>
            <a:r>
              <a:rPr lang="en"/>
              <a:t> flow that makes students practice strategies on real LSAT questions. First, we suggest the user a relevant test-taking strategy to use. Each of the strategies has a custom UI module to enforce its use. Then, they answer the mcq and provide a written explanation for their choice.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Alan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695d49b4e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695d49b4e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each question an LLM with a grading rubric gives them a rundown of why their reasoning is correct or incorrect, and the exact, proper reasoning for the problem. They can also see feedback for past questions in the dashboard.</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Alan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695d49b4e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f695d49b4e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Questions and strategies are adaptive and personalized using real learning science concepts, such as interleaving and spacing scheduling. Q</a:t>
            </a:r>
            <a:r>
              <a:rPr lang="en"/>
              <a:t>uestion types </a:t>
            </a:r>
            <a:r>
              <a:rPr lang="en"/>
              <a:t>that you miss more will show up more often, and strategies that you do better with, will be prompted more. We have over 10 buckets for question-types and 14 different high-yield strategies verifiably </a:t>
            </a:r>
            <a:r>
              <a:rPr lang="en"/>
              <a:t>sourced from real evidence.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In this way, we set our app apart from the incredibly basic question banks and recommendation systems, that essentially ignore modern learning science, that the current LSAT prep market uses.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Alan</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695d49b4e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695d49b4e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Now our game. Just to note, t</a:t>
            </a:r>
            <a:r>
              <a:rPr lang="en">
                <a:solidFill>
                  <a:schemeClr val="dk1"/>
                </a:solidFill>
              </a:rPr>
              <a:t>he game is optional; the adaptive question recommendation system completely functions without the game for students who don’t have issues with burnout.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Users start off as a new attorney and buy upgrades using virtual currency to ‘expand’ their firm and increase their income.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game doesn’t gate the practice, the practice gates the game; Doing practice questions and mock exams will earn the user visible progress.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Alan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6bbc34bd2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6bbc34bd2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 large study conducted by the journal of IT education, found that gamification was shown to massively improve participation and focus across a variety of subjects for university students; a plethora of other cutting-edge studies also support this conclusion.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695d49b4e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f695d49b4e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Upgrades also change the look and feel of your law firm. As you progress, </a:t>
            </a:r>
            <a:r>
              <a:rPr lang="en"/>
              <a:t>your</a:t>
            </a:r>
            <a:r>
              <a:rPr lang="en"/>
              <a:t> law firm </a:t>
            </a:r>
            <a:r>
              <a:rPr lang="en"/>
              <a:t>office</a:t>
            </a:r>
            <a:r>
              <a:rPr lang="en"/>
              <a:t> becomes more robust, and it is a direct signal of how many LSAT </a:t>
            </a:r>
            <a:r>
              <a:rPr lang="en"/>
              <a:t>questions you have answered, utilizing a proper strategy</a:t>
            </a:r>
            <a:r>
              <a:rPr lang="en"/>
              <a: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Alan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695d49b4e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f695d49b4e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he goal is to get enough money to progress to the most expensive law firm.</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The game is paced to be completed in around two months if the student answers 20 questions correctly every day.</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Alan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695d49b4e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Lawyer Tycoon is a better LSAT study tool than any other one out there.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of all, we only feed the student what matters most, practice problems. We don’t give them videos or live instruction which are proven to be less effective study methods. This also greatly reduces overhead on our part.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Other apps let the user choose between type of questions which means they will tend to do the ones they feel comfortable with. And that is not efficient. We target the questions users are struggling with, making them practice what would cause the highest score improvement.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Lastly. Our game-loop motivates slacking students to keep answering questions. On our app, students will go through hundreds, if not thousands, of more questions than our competitors in the same timeframe, causing greater score improvement.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Nischay</a:t>
            </a:r>
            <a:endParaRPr/>
          </a:p>
        </p:txBody>
      </p:sp>
      <p:sp>
        <p:nvSpPr>
          <p:cNvPr id="238" name="Google Shape;238;g3f695d49b4e_1_43: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64a5a2159_1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Nischay</a:t>
            </a:r>
            <a:endParaRPr/>
          </a:p>
        </p:txBody>
      </p:sp>
      <p:sp>
        <p:nvSpPr>
          <p:cNvPr id="253" name="Google Shape;253;g3f64a5a2159_1_16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7.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12" y="0"/>
            <a:ext cx="9144000" cy="5143500"/>
          </a:xfrm>
          <a:prstGeom prst="rect">
            <a:avLst/>
          </a:prstGeom>
          <a:gradFill>
            <a:gsLst>
              <a:gs pos="0">
                <a:srgbClr val="101C2A"/>
              </a:gs>
              <a:gs pos="100000">
                <a:srgbClr val="1B3040"/>
              </a:gs>
            </a:gsLst>
            <a:lin ang="36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 name="Google Shape;130;p25"/>
          <p:cNvSpPr/>
          <p:nvPr/>
        </p:nvSpPr>
        <p:spPr>
          <a:xfrm>
            <a:off x="5778500" y="1270000"/>
            <a:ext cx="2730600" cy="2819400"/>
          </a:xfrm>
          <a:prstGeom prst="roundRect">
            <a:avLst>
              <a:gd fmla="val 16667" name="adj"/>
            </a:avLst>
          </a:prstGeom>
          <a:solidFill>
            <a:srgbClr val="17303C">
              <a:alpha val="96000"/>
            </a:srgbClr>
          </a:solidFill>
          <a:ln cap="flat" cmpd="sng" w="11425">
            <a:solidFill>
              <a:srgbClr val="31515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1" name="Google Shape;131;p25"/>
          <p:cNvSpPr/>
          <p:nvPr/>
        </p:nvSpPr>
        <p:spPr>
          <a:xfrm>
            <a:off x="5015885" y="-554285"/>
            <a:ext cx="4800600" cy="4800600"/>
          </a:xfrm>
          <a:prstGeom prst="ellipse">
            <a:avLst/>
          </a:prstGeom>
          <a:solidFill>
            <a:srgbClr val="2E4F55">
              <a:alpha val="21961"/>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2" name="Google Shape;132;p25"/>
          <p:cNvSpPr/>
          <p:nvPr/>
        </p:nvSpPr>
        <p:spPr>
          <a:xfrm>
            <a:off x="480073" y="425196"/>
            <a:ext cx="425207" cy="425196"/>
          </a:xfrm>
          <a:prstGeom prst="ellipse">
            <a:avLst/>
          </a:prstGeom>
          <a:solidFill>
            <a:srgbClr val="18394A"/>
          </a:solidFill>
          <a:ln cap="flat" cmpd="sng" w="15875">
            <a:solidFill>
              <a:srgbClr val="C89B4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i="0" lang="en" sz="1500" u="none" cap="none" strike="noStrike">
                <a:solidFill>
                  <a:srgbClr val="F0D27F"/>
                </a:solidFill>
                <a:latin typeface="Georgia"/>
                <a:ea typeface="Georgia"/>
                <a:cs typeface="Georgia"/>
                <a:sym typeface="Georgia"/>
              </a:rPr>
              <a:t>⚖</a:t>
            </a:r>
            <a:endParaRPr sz="1100"/>
          </a:p>
        </p:txBody>
      </p:sp>
      <p:sp>
        <p:nvSpPr>
          <p:cNvPr id="133" name="Google Shape;133;p25"/>
          <p:cNvSpPr txBox="1"/>
          <p:nvPr/>
        </p:nvSpPr>
        <p:spPr>
          <a:xfrm>
            <a:off x="994412" y="489180"/>
            <a:ext cx="2743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100">
                <a:solidFill>
                  <a:srgbClr val="F4EAD2"/>
                </a:solidFill>
                <a:latin typeface="Avenir"/>
                <a:ea typeface="Avenir"/>
                <a:cs typeface="Avenir"/>
                <a:sym typeface="Avenir"/>
              </a:rPr>
              <a:t>LAWYER</a:t>
            </a:r>
            <a:endParaRPr sz="1100"/>
          </a:p>
        </p:txBody>
      </p:sp>
      <p:sp>
        <p:nvSpPr>
          <p:cNvPr id="134" name="Google Shape;134;p25"/>
          <p:cNvSpPr txBox="1"/>
          <p:nvPr/>
        </p:nvSpPr>
        <p:spPr>
          <a:xfrm>
            <a:off x="994399" y="658386"/>
            <a:ext cx="27432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800" u="none" cap="none" strike="noStrike">
                <a:solidFill>
                  <a:srgbClr val="70CABB"/>
                </a:solidFill>
                <a:latin typeface="Avenir"/>
                <a:ea typeface="Avenir"/>
                <a:cs typeface="Avenir"/>
                <a:sym typeface="Avenir"/>
              </a:rPr>
              <a:t>TYCOON</a:t>
            </a:r>
            <a:endParaRPr sz="1100"/>
          </a:p>
        </p:txBody>
      </p:sp>
      <p:sp>
        <p:nvSpPr>
          <p:cNvPr id="135" name="Google Shape;135;p25"/>
          <p:cNvSpPr txBox="1"/>
          <p:nvPr/>
        </p:nvSpPr>
        <p:spPr>
          <a:xfrm>
            <a:off x="609600" y="1651000"/>
            <a:ext cx="4851300" cy="711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sz="4400">
                <a:solidFill>
                  <a:srgbClr val="F4EAD2"/>
                </a:solidFill>
                <a:latin typeface="Georgia"/>
                <a:ea typeface="Georgia"/>
                <a:cs typeface="Georgia"/>
                <a:sym typeface="Georgia"/>
              </a:rPr>
              <a:t>Lawyer Tycoon</a:t>
            </a:r>
            <a:endParaRPr b="1" sz="4400">
              <a:solidFill>
                <a:srgbClr val="F4EAD2"/>
              </a:solidFill>
              <a:latin typeface="Georgia"/>
              <a:ea typeface="Georgia"/>
              <a:cs typeface="Georgia"/>
              <a:sym typeface="Georgia"/>
            </a:endParaRPr>
          </a:p>
        </p:txBody>
      </p:sp>
      <p:sp>
        <p:nvSpPr>
          <p:cNvPr id="136" name="Google Shape;136;p25"/>
          <p:cNvSpPr txBox="1"/>
          <p:nvPr/>
        </p:nvSpPr>
        <p:spPr>
          <a:xfrm>
            <a:off x="635000" y="2501900"/>
            <a:ext cx="4445100" cy="393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lang="en" sz="1700">
                <a:solidFill>
                  <a:srgbClr val="B9B5A8"/>
                </a:solidFill>
                <a:latin typeface="Avenir"/>
                <a:ea typeface="Avenir"/>
                <a:cs typeface="Avenir"/>
                <a:sym typeface="Avenir"/>
              </a:rPr>
              <a:t>The LSAT speedrun app.</a:t>
            </a:r>
            <a:endParaRPr sz="1700">
              <a:solidFill>
                <a:srgbClr val="B9B5A8"/>
              </a:solidFill>
              <a:latin typeface="Avenir"/>
              <a:ea typeface="Avenir"/>
              <a:cs typeface="Avenir"/>
              <a:sym typeface="Avenir"/>
            </a:endParaRPr>
          </a:p>
        </p:txBody>
      </p:sp>
      <p:sp>
        <p:nvSpPr>
          <p:cNvPr id="137" name="Google Shape;137;p25"/>
          <p:cNvSpPr/>
          <p:nvPr/>
        </p:nvSpPr>
        <p:spPr>
          <a:xfrm>
            <a:off x="635000" y="3429000"/>
            <a:ext cx="812700" cy="38100"/>
          </a:xfrm>
          <a:prstGeom prst="roundRect">
            <a:avLst>
              <a:gd fmla="val 50000" name="adj"/>
            </a:avLst>
          </a:prstGeom>
          <a:solidFill>
            <a:srgbClr val="C89B4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8" name="Google Shape;138;p25"/>
          <p:cNvSpPr txBox="1"/>
          <p:nvPr/>
        </p:nvSpPr>
        <p:spPr>
          <a:xfrm>
            <a:off x="5943600" y="3479800"/>
            <a:ext cx="2412900" cy="228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b="1" lang="en" sz="950">
                <a:solidFill>
                  <a:srgbClr val="F4EAD2"/>
                </a:solidFill>
                <a:latin typeface="Avenir"/>
                <a:ea typeface="Avenir"/>
                <a:cs typeface="Avenir"/>
                <a:sym typeface="Avenir"/>
              </a:rPr>
              <a:t>Alan Abraham  ·  Nischay Hegde</a:t>
            </a:r>
            <a:endParaRPr b="1" sz="950">
              <a:solidFill>
                <a:srgbClr val="F4EAD2"/>
              </a:solidFill>
              <a:latin typeface="Avenir"/>
              <a:ea typeface="Avenir"/>
              <a:cs typeface="Avenir"/>
              <a:sym typeface="Avenir"/>
            </a:endParaRPr>
          </a:p>
        </p:txBody>
      </p:sp>
      <p:pic>
        <p:nvPicPr>
          <p:cNvPr id="139" name="Google Shape;139;p25"/>
          <p:cNvPicPr preferRelativeResize="0"/>
          <p:nvPr/>
        </p:nvPicPr>
        <p:blipFill>
          <a:blip r:embed="rId3">
            <a:alphaModFix/>
          </a:blip>
          <a:stretch>
            <a:fillRect/>
          </a:stretch>
        </p:blipFill>
        <p:spPr>
          <a:xfrm>
            <a:off x="5994400" y="1473200"/>
            <a:ext cx="635002" cy="635002"/>
          </a:xfrm>
          <a:prstGeom prst="rect">
            <a:avLst/>
          </a:prstGeom>
          <a:gradFill>
            <a:gsLst>
              <a:gs pos="0">
                <a:srgbClr val="101C2A"/>
              </a:gs>
              <a:gs pos="100000">
                <a:srgbClr val="1B3040"/>
              </a:gs>
            </a:gsLst>
            <a:lin ang="3600008" scaled="0"/>
          </a:gradFill>
          <a:ln>
            <a:noFill/>
          </a:ln>
        </p:spPr>
      </p:pic>
      <p:pic>
        <p:nvPicPr>
          <p:cNvPr id="140" name="Google Shape;140;p25"/>
          <p:cNvPicPr preferRelativeResize="0"/>
          <p:nvPr/>
        </p:nvPicPr>
        <p:blipFill>
          <a:blip r:embed="rId4">
            <a:alphaModFix/>
          </a:blip>
          <a:stretch>
            <a:fillRect/>
          </a:stretch>
        </p:blipFill>
        <p:spPr>
          <a:xfrm flipH="1">
            <a:off x="7239000" y="2413000"/>
            <a:ext cx="914400" cy="914400"/>
          </a:xfrm>
          <a:prstGeom prst="rect">
            <a:avLst/>
          </a:prstGeom>
          <a:noFill/>
          <a:ln>
            <a:noFill/>
          </a:ln>
        </p:spPr>
      </p:pic>
      <p:pic>
        <p:nvPicPr>
          <p:cNvPr id="141" name="Google Shape;141;p25"/>
          <p:cNvPicPr preferRelativeResize="0"/>
          <p:nvPr/>
        </p:nvPicPr>
        <p:blipFill>
          <a:blip r:embed="rId5">
            <a:alphaModFix/>
          </a:blip>
          <a:stretch>
            <a:fillRect/>
          </a:stretch>
        </p:blipFill>
        <p:spPr>
          <a:xfrm>
            <a:off x="6096000" y="2413000"/>
            <a:ext cx="914400" cy="914400"/>
          </a:xfrm>
          <a:prstGeom prst="rect">
            <a:avLst/>
          </a:prstGeom>
          <a:noFill/>
          <a:ln>
            <a:noFill/>
          </a:ln>
        </p:spPr>
      </p:pic>
      <p:sp>
        <p:nvSpPr>
          <p:cNvPr id="142" name="Google Shape;142;p25"/>
          <p:cNvSpPr txBox="1"/>
          <p:nvPr/>
        </p:nvSpPr>
        <p:spPr>
          <a:xfrm>
            <a:off x="635000" y="1371600"/>
            <a:ext cx="3302100" cy="20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950">
                <a:solidFill>
                  <a:srgbClr val="C89B4B"/>
                </a:solidFill>
                <a:latin typeface="Avenir"/>
                <a:ea typeface="Avenir"/>
                <a:cs typeface="Avenir"/>
                <a:sym typeface="Avenir"/>
              </a:rPr>
              <a:t>LSAT PREP, REIMAGINED</a:t>
            </a:r>
            <a:endParaRPr b="1" sz="950">
              <a:solidFill>
                <a:srgbClr val="C89B4B"/>
              </a:solidFill>
              <a:latin typeface="Avenir"/>
              <a:ea typeface="Avenir"/>
              <a:cs typeface="Avenir"/>
              <a:sym typeface="Avenir"/>
            </a:endParaRPr>
          </a:p>
        </p:txBody>
      </p:sp>
      <p:sp>
        <p:nvSpPr>
          <p:cNvPr id="143" name="Google Shape;143;p25"/>
          <p:cNvSpPr txBox="1"/>
          <p:nvPr/>
        </p:nvSpPr>
        <p:spPr>
          <a:xfrm>
            <a:off x="538575" y="3575100"/>
            <a:ext cx="4191000" cy="2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0CABB"/>
                </a:solidFill>
                <a:latin typeface="Avenir"/>
                <a:ea typeface="Avenir"/>
                <a:cs typeface="Avenir"/>
                <a:sym typeface="Avenir"/>
              </a:rPr>
              <a:t>DIAGNOSE  ·  PRACTICE  ·  PROGRESS</a:t>
            </a:r>
            <a:endParaRPr b="1" sz="1000">
              <a:solidFill>
                <a:srgbClr val="70CABB"/>
              </a:solidFill>
              <a:latin typeface="Avenir"/>
              <a:ea typeface="Avenir"/>
              <a:cs typeface="Avenir"/>
              <a:sym typeface="Avenir"/>
            </a:endParaRPr>
          </a:p>
        </p:txBody>
      </p:sp>
      <p:sp>
        <p:nvSpPr>
          <p:cNvPr id="144" name="Google Shape;144;p25"/>
          <p:cNvSpPr txBox="1"/>
          <p:nvPr/>
        </p:nvSpPr>
        <p:spPr>
          <a:xfrm>
            <a:off x="635000" y="3924300"/>
            <a:ext cx="41910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B9B5A8"/>
                </a:solidFill>
                <a:latin typeface="Avenir"/>
                <a:ea typeface="Avenir"/>
                <a:cs typeface="Avenir"/>
                <a:sym typeface="Avenir"/>
              </a:rPr>
              <a:t>One measured learning loop. No busywork.</a:t>
            </a:r>
            <a:endParaRPr sz="1200">
              <a:solidFill>
                <a:srgbClr val="B9B5A8"/>
              </a:solidFill>
              <a:latin typeface="Avenir"/>
              <a:ea typeface="Avenir"/>
              <a:cs typeface="Avenir"/>
              <a:sym typeface="Avenir"/>
            </a:endParaRPr>
          </a:p>
        </p:txBody>
      </p:sp>
      <p:sp>
        <p:nvSpPr>
          <p:cNvPr id="145" name="Google Shape;145;p25"/>
          <p:cNvSpPr txBox="1"/>
          <p:nvPr/>
        </p:nvSpPr>
        <p:spPr>
          <a:xfrm>
            <a:off x="6807200" y="1498600"/>
            <a:ext cx="1498500" cy="19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50">
                <a:solidFill>
                  <a:srgbClr val="C89B4B"/>
                </a:solidFill>
                <a:latin typeface="Avenir"/>
                <a:ea typeface="Avenir"/>
                <a:cs typeface="Avenir"/>
                <a:sym typeface="Avenir"/>
              </a:rPr>
              <a:t>BUILT AT UT AUSTIN</a:t>
            </a:r>
            <a:endParaRPr b="1" sz="850">
              <a:solidFill>
                <a:srgbClr val="C89B4B"/>
              </a:solidFill>
              <a:latin typeface="Avenir"/>
              <a:ea typeface="Avenir"/>
              <a:cs typeface="Avenir"/>
              <a:sym typeface="Avenir"/>
            </a:endParaRPr>
          </a:p>
        </p:txBody>
      </p:sp>
      <p:sp>
        <p:nvSpPr>
          <p:cNvPr id="146" name="Google Shape;146;p25"/>
          <p:cNvSpPr txBox="1"/>
          <p:nvPr/>
        </p:nvSpPr>
        <p:spPr>
          <a:xfrm>
            <a:off x="6807200" y="1778000"/>
            <a:ext cx="14985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50">
                <a:solidFill>
                  <a:srgbClr val="D7D2C7"/>
                </a:solidFill>
                <a:latin typeface="Avenir"/>
                <a:ea typeface="Avenir"/>
                <a:cs typeface="Avenir"/>
                <a:sym typeface="Avenir"/>
              </a:rPr>
              <a:t>Student-built.</a:t>
            </a:r>
            <a:endParaRPr sz="1150">
              <a:solidFill>
                <a:srgbClr val="D7D2C7"/>
              </a:solidFill>
              <a:latin typeface="Avenir"/>
              <a:ea typeface="Avenir"/>
              <a:cs typeface="Avenir"/>
              <a:sym typeface="Avenir"/>
            </a:endParaRPr>
          </a:p>
          <a:p>
            <a:pPr indent="0" lvl="0" marL="0" rtl="0" algn="l">
              <a:lnSpc>
                <a:spcPct val="115000"/>
              </a:lnSpc>
              <a:spcBef>
                <a:spcPts val="0"/>
              </a:spcBef>
              <a:spcAft>
                <a:spcPts val="0"/>
              </a:spcAft>
              <a:buNone/>
            </a:pPr>
            <a:r>
              <a:rPr lang="en" sz="1150">
                <a:solidFill>
                  <a:srgbClr val="D7D2C7"/>
                </a:solidFill>
                <a:latin typeface="Avenir"/>
                <a:ea typeface="Avenir"/>
                <a:cs typeface="Avenir"/>
                <a:sym typeface="Avenir"/>
              </a:rPr>
              <a:t>Evidence-first.</a:t>
            </a:r>
            <a:endParaRPr sz="1150">
              <a:solidFill>
                <a:srgbClr val="D7D2C7"/>
              </a:solidFill>
              <a:latin typeface="Avenir"/>
              <a:ea typeface="Avenir"/>
              <a:cs typeface="Avenir"/>
              <a:sym typeface="Avenir"/>
            </a:endParaRPr>
          </a:p>
        </p:txBody>
      </p:sp>
      <p:sp>
        <p:nvSpPr>
          <p:cNvPr id="147" name="Google Shape;147;p25"/>
          <p:cNvSpPr txBox="1"/>
          <p:nvPr/>
        </p:nvSpPr>
        <p:spPr>
          <a:xfrm>
            <a:off x="5943600" y="3784600"/>
            <a:ext cx="2412900" cy="165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800">
                <a:solidFill>
                  <a:srgbClr val="6E868F"/>
                </a:solidFill>
                <a:latin typeface="Avenir"/>
                <a:ea typeface="Avenir"/>
                <a:cs typeface="Avenir"/>
                <a:sym typeface="Avenir"/>
              </a:rPr>
              <a:t>CO-FOUNDERS</a:t>
            </a:r>
            <a:endParaRPr b="1" sz="800">
              <a:solidFill>
                <a:srgbClr val="6E868F"/>
              </a:solidFill>
              <a:latin typeface="Avenir"/>
              <a:ea typeface="Avenir"/>
              <a:cs typeface="Avenir"/>
              <a:sym typeface="Aveni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p:nvPr/>
        </p:nvSpPr>
        <p:spPr>
          <a:xfrm>
            <a:off x="0" y="0"/>
            <a:ext cx="9144000" cy="5143500"/>
          </a:xfrm>
          <a:prstGeom prst="rect">
            <a:avLst/>
          </a:prstGeom>
          <a:solidFill>
            <a:srgbClr val="F2EEE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3" name="Google Shape;153;p26"/>
          <p:cNvSpPr txBox="1"/>
          <p:nvPr/>
        </p:nvSpPr>
        <p:spPr>
          <a:xfrm>
            <a:off x="681689" y="4834890"/>
            <a:ext cx="75441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9A6C28"/>
                </a:solidFill>
                <a:latin typeface="Avenir"/>
                <a:ea typeface="Avenir"/>
                <a:cs typeface="Avenir"/>
                <a:sym typeface="Avenir"/>
              </a:rPr>
              <a:t>LAWYER</a:t>
            </a:r>
            <a:r>
              <a:rPr b="1" i="0" lang="en" sz="800" u="none" cap="none" strike="noStrike">
                <a:solidFill>
                  <a:srgbClr val="9A6C28"/>
                </a:solidFill>
                <a:latin typeface="Avenir"/>
                <a:ea typeface="Avenir"/>
                <a:cs typeface="Avenir"/>
                <a:sym typeface="Avenir"/>
              </a:rPr>
              <a:t> TYCOON</a:t>
            </a:r>
            <a:endParaRPr sz="1100"/>
          </a:p>
        </p:txBody>
      </p:sp>
      <p:sp>
        <p:nvSpPr>
          <p:cNvPr id="154" name="Google Shape;154;p26"/>
          <p:cNvSpPr/>
          <p:nvPr/>
        </p:nvSpPr>
        <p:spPr>
          <a:xfrm>
            <a:off x="1126600" y="281275"/>
            <a:ext cx="7099200" cy="3993000"/>
          </a:xfrm>
          <a:prstGeom prst="roundRect">
            <a:avLst>
              <a:gd fmla="val 16667" name="adj"/>
            </a:avLst>
          </a:prstGeom>
          <a:solidFill>
            <a:srgbClr val="FCFBF7"/>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5" name="Google Shape;155;p26"/>
          <p:cNvSpPr txBox="1"/>
          <p:nvPr/>
        </p:nvSpPr>
        <p:spPr>
          <a:xfrm>
            <a:off x="2095900" y="538275"/>
            <a:ext cx="5160600" cy="2663100"/>
          </a:xfrm>
          <a:prstGeom prst="rect">
            <a:avLst/>
          </a:prstGeom>
          <a:noFill/>
          <a:ln>
            <a:noFill/>
          </a:ln>
        </p:spPr>
        <p:txBody>
          <a:bodyPr anchorCtr="0" anchor="t" bIns="91425" lIns="91425" spcFirstLastPara="1" rIns="91425" wrap="square" tIns="91425">
            <a:noAutofit/>
          </a:bodyPr>
          <a:lstStyle/>
          <a:p>
            <a:pPr indent="0" lvl="0" marL="0" rtl="0" algn="ctr">
              <a:lnSpc>
                <a:spcPct val="116000"/>
              </a:lnSpc>
              <a:spcBef>
                <a:spcPts val="0"/>
              </a:spcBef>
              <a:spcAft>
                <a:spcPts val="0"/>
              </a:spcAft>
              <a:buNone/>
            </a:pPr>
            <a:r>
              <a:rPr lang="en" sz="4300">
                <a:solidFill>
                  <a:srgbClr val="102735"/>
                </a:solidFill>
                <a:latin typeface="Georgia"/>
                <a:ea typeface="Georgia"/>
                <a:cs typeface="Georgia"/>
                <a:sym typeface="Georgia"/>
              </a:rPr>
              <a:t>Spiky</a:t>
            </a:r>
            <a:r>
              <a:rPr b="1" lang="en" sz="4300">
                <a:solidFill>
                  <a:srgbClr val="102735"/>
                </a:solidFill>
                <a:latin typeface="Georgia"/>
                <a:ea typeface="Georgia"/>
                <a:cs typeface="Georgia"/>
                <a:sym typeface="Georgia"/>
              </a:rPr>
              <a:t> POV</a:t>
            </a:r>
            <a:endParaRPr b="1" sz="4300">
              <a:solidFill>
                <a:srgbClr val="102735"/>
              </a:solidFill>
              <a:latin typeface="Georgia"/>
              <a:ea typeface="Georgia"/>
              <a:cs typeface="Georgia"/>
              <a:sym typeface="Georgia"/>
            </a:endParaRPr>
          </a:p>
          <a:p>
            <a:pPr indent="0" lvl="0" marL="0" rtl="0" algn="ctr">
              <a:lnSpc>
                <a:spcPct val="116000"/>
              </a:lnSpc>
              <a:spcBef>
                <a:spcPts val="700"/>
              </a:spcBef>
              <a:spcAft>
                <a:spcPts val="0"/>
              </a:spcAft>
              <a:buNone/>
            </a:pPr>
            <a:r>
              <a:rPr lang="en" sz="2500">
                <a:solidFill>
                  <a:srgbClr val="595959"/>
                </a:solidFill>
                <a:latin typeface="Avenir"/>
                <a:ea typeface="Avenir"/>
                <a:cs typeface="Avenir"/>
                <a:sym typeface="Avenir"/>
              </a:rPr>
              <a:t>The only efficient way to study for the LSAT is to repeatedly </a:t>
            </a:r>
            <a:r>
              <a:rPr lang="en" sz="2500">
                <a:solidFill>
                  <a:srgbClr val="595959"/>
                </a:solidFill>
                <a:latin typeface="Avenir"/>
                <a:ea typeface="Avenir"/>
                <a:cs typeface="Avenir"/>
                <a:sym typeface="Avenir"/>
              </a:rPr>
              <a:t>answer</a:t>
            </a:r>
            <a:r>
              <a:rPr lang="en" sz="2500">
                <a:solidFill>
                  <a:srgbClr val="595959"/>
                </a:solidFill>
                <a:latin typeface="Avenir"/>
                <a:ea typeface="Avenir"/>
                <a:cs typeface="Avenir"/>
                <a:sym typeface="Avenir"/>
              </a:rPr>
              <a:t> questions and receive feedback.</a:t>
            </a:r>
            <a:endParaRPr sz="2500">
              <a:solidFill>
                <a:srgbClr val="595959"/>
              </a:solidFill>
              <a:latin typeface="Avenir"/>
              <a:ea typeface="Avenir"/>
              <a:cs typeface="Avenir"/>
              <a:sym typeface="Avenir"/>
            </a:endParaRPr>
          </a:p>
          <a:p>
            <a:pPr indent="0" lvl="0" marL="0" rtl="0" algn="ctr">
              <a:lnSpc>
                <a:spcPct val="116000"/>
              </a:lnSpc>
              <a:spcBef>
                <a:spcPts val="0"/>
              </a:spcBef>
              <a:spcAft>
                <a:spcPts val="0"/>
              </a:spcAft>
              <a:buNone/>
            </a:pPr>
            <a:r>
              <a:t/>
            </a:r>
            <a:endParaRPr sz="2500">
              <a:solidFill>
                <a:srgbClr val="595959"/>
              </a:solidFill>
              <a:latin typeface="Avenir"/>
              <a:ea typeface="Avenir"/>
              <a:cs typeface="Avenir"/>
              <a:sym typeface="Avenir"/>
            </a:endParaRPr>
          </a:p>
          <a:p>
            <a:pPr indent="0" lvl="0" marL="0" rtl="0" algn="ctr">
              <a:lnSpc>
                <a:spcPct val="116000"/>
              </a:lnSpc>
              <a:spcBef>
                <a:spcPts val="0"/>
              </a:spcBef>
              <a:spcAft>
                <a:spcPts val="0"/>
              </a:spcAft>
              <a:buNone/>
            </a:pPr>
            <a:r>
              <a:rPr lang="en" sz="2500">
                <a:solidFill>
                  <a:srgbClr val="595959"/>
                </a:solidFill>
                <a:latin typeface="Avenir"/>
                <a:ea typeface="Avenir"/>
                <a:cs typeface="Avenir"/>
                <a:sym typeface="Avenir"/>
              </a:rPr>
              <a:t>Watching videos or studying concepts is inefficient. </a:t>
            </a:r>
            <a:endParaRPr sz="2500">
              <a:solidFill>
                <a:srgbClr val="595959"/>
              </a:solidFill>
              <a:latin typeface="Avenir"/>
              <a:ea typeface="Avenir"/>
              <a:cs typeface="Avenir"/>
              <a:sym typeface="Aveni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p:nvPr/>
        </p:nvSpPr>
        <p:spPr>
          <a:xfrm>
            <a:off x="0" y="0"/>
            <a:ext cx="9144000" cy="5143500"/>
          </a:xfrm>
          <a:prstGeom prst="rect">
            <a:avLst/>
          </a:prstGeom>
          <a:solidFill>
            <a:srgbClr val="F2EEE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1" name="Google Shape;161;p27"/>
          <p:cNvSpPr txBox="1"/>
          <p:nvPr/>
        </p:nvSpPr>
        <p:spPr>
          <a:xfrm>
            <a:off x="628489" y="320450"/>
            <a:ext cx="5486400" cy="138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sz="900">
                <a:solidFill>
                  <a:srgbClr val="9A6C28"/>
                </a:solidFill>
                <a:latin typeface="Avenir"/>
                <a:ea typeface="Avenir"/>
                <a:cs typeface="Avenir"/>
                <a:sym typeface="Avenir"/>
              </a:rPr>
              <a:t>THE GOAL</a:t>
            </a:r>
            <a:endParaRPr b="1" sz="900">
              <a:solidFill>
                <a:srgbClr val="9A6C28"/>
              </a:solidFill>
              <a:latin typeface="Avenir"/>
              <a:ea typeface="Avenir"/>
              <a:cs typeface="Avenir"/>
              <a:sym typeface="Avenir"/>
            </a:endParaRPr>
          </a:p>
        </p:txBody>
      </p:sp>
      <p:sp>
        <p:nvSpPr>
          <p:cNvPr id="162" name="Google Shape;162;p27"/>
          <p:cNvSpPr txBox="1"/>
          <p:nvPr/>
        </p:nvSpPr>
        <p:spPr>
          <a:xfrm>
            <a:off x="628489" y="562356"/>
            <a:ext cx="7887000" cy="369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sz="2400">
                <a:solidFill>
                  <a:srgbClr val="102735"/>
                </a:solidFill>
                <a:latin typeface="Georgia"/>
                <a:ea typeface="Georgia"/>
                <a:cs typeface="Georgia"/>
                <a:sym typeface="Georgia"/>
              </a:rPr>
              <a:t>Faster LSAT improvement. Same study time.</a:t>
            </a:r>
            <a:endParaRPr b="1" sz="2400">
              <a:solidFill>
                <a:srgbClr val="102735"/>
              </a:solidFill>
              <a:latin typeface="Georgia"/>
              <a:ea typeface="Georgia"/>
              <a:cs typeface="Georgia"/>
              <a:sym typeface="Georgia"/>
            </a:endParaRPr>
          </a:p>
        </p:txBody>
      </p:sp>
      <p:sp>
        <p:nvSpPr>
          <p:cNvPr id="163" name="Google Shape;163;p27"/>
          <p:cNvSpPr txBox="1"/>
          <p:nvPr/>
        </p:nvSpPr>
        <p:spPr>
          <a:xfrm>
            <a:off x="681689" y="4834890"/>
            <a:ext cx="75441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9A6C28"/>
                </a:solidFill>
                <a:latin typeface="Avenir"/>
                <a:ea typeface="Avenir"/>
                <a:cs typeface="Avenir"/>
                <a:sym typeface="Avenir"/>
              </a:rPr>
              <a:t>LAWYER</a:t>
            </a:r>
            <a:r>
              <a:rPr b="1" i="0" lang="en" sz="800" u="none" cap="none" strike="noStrike">
                <a:solidFill>
                  <a:srgbClr val="9A6C28"/>
                </a:solidFill>
                <a:latin typeface="Avenir"/>
                <a:ea typeface="Avenir"/>
                <a:cs typeface="Avenir"/>
                <a:sym typeface="Avenir"/>
              </a:rPr>
              <a:t> TYCOON</a:t>
            </a:r>
            <a:endParaRPr sz="1100"/>
          </a:p>
        </p:txBody>
      </p:sp>
      <p:sp>
        <p:nvSpPr>
          <p:cNvPr id="164" name="Google Shape;164;p27"/>
          <p:cNvSpPr txBox="1"/>
          <p:nvPr/>
        </p:nvSpPr>
        <p:spPr>
          <a:xfrm>
            <a:off x="577750" y="915325"/>
            <a:ext cx="74931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rgbClr val="595959"/>
                </a:solidFill>
                <a:latin typeface="Avenir"/>
                <a:ea typeface="Avenir"/>
                <a:cs typeface="Avenir"/>
                <a:sym typeface="Avenir"/>
              </a:rPr>
              <a:t>A tighter learning loop makes every session count.</a:t>
            </a:r>
            <a:endParaRPr b="1" sz="1300">
              <a:solidFill>
                <a:srgbClr val="595959"/>
              </a:solidFill>
              <a:latin typeface="Avenir"/>
              <a:ea typeface="Avenir"/>
              <a:cs typeface="Avenir"/>
              <a:sym typeface="Avenir"/>
            </a:endParaRPr>
          </a:p>
        </p:txBody>
      </p:sp>
      <p:sp>
        <p:nvSpPr>
          <p:cNvPr id="165" name="Google Shape;165;p27"/>
          <p:cNvSpPr/>
          <p:nvPr/>
        </p:nvSpPr>
        <p:spPr>
          <a:xfrm>
            <a:off x="628650" y="1676400"/>
            <a:ext cx="2412900" cy="2412900"/>
          </a:xfrm>
          <a:prstGeom prst="roundRect">
            <a:avLst>
              <a:gd fmla="val 16667" name="adj"/>
            </a:avLst>
          </a:prstGeom>
          <a:solidFill>
            <a:srgbClr val="FCFBF7"/>
          </a:solidFill>
          <a:ln cap="flat" cmpd="sng" w="28575">
            <a:solidFill>
              <a:srgbClr val="DED7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6" name="Google Shape;166;p27"/>
          <p:cNvSpPr txBox="1"/>
          <p:nvPr/>
        </p:nvSpPr>
        <p:spPr>
          <a:xfrm>
            <a:off x="831750" y="2464325"/>
            <a:ext cx="2006700" cy="837900"/>
          </a:xfrm>
          <a:prstGeom prst="rect">
            <a:avLst/>
          </a:prstGeom>
          <a:noFill/>
          <a:ln>
            <a:noFill/>
          </a:ln>
        </p:spPr>
        <p:txBody>
          <a:bodyPr anchorCtr="0" anchor="t" bIns="91425" lIns="91425" spcFirstLastPara="1" rIns="91425" wrap="square" tIns="91425">
            <a:noAutofit/>
          </a:bodyPr>
          <a:lstStyle/>
          <a:p>
            <a:pPr indent="0" lvl="0" marL="0" rtl="0" algn="ctr">
              <a:lnSpc>
                <a:spcPct val="116000"/>
              </a:lnSpc>
              <a:spcBef>
                <a:spcPts val="0"/>
              </a:spcBef>
              <a:spcAft>
                <a:spcPts val="700"/>
              </a:spcAft>
              <a:buNone/>
            </a:pPr>
            <a:r>
              <a:rPr b="1" lang="en" sz="2100">
                <a:solidFill>
                  <a:srgbClr val="102735"/>
                </a:solidFill>
                <a:latin typeface="Georgia"/>
                <a:ea typeface="Georgia"/>
                <a:cs typeface="Georgia"/>
                <a:sym typeface="Georgia"/>
              </a:rPr>
              <a:t>Targeted Practice.</a:t>
            </a:r>
            <a:endParaRPr sz="1800">
              <a:solidFill>
                <a:srgbClr val="595959"/>
              </a:solidFill>
              <a:latin typeface="Avenir"/>
              <a:ea typeface="Avenir"/>
              <a:cs typeface="Avenir"/>
              <a:sym typeface="Avenir"/>
            </a:endParaRPr>
          </a:p>
        </p:txBody>
      </p:sp>
      <p:sp>
        <p:nvSpPr>
          <p:cNvPr id="167" name="Google Shape;167;p27"/>
          <p:cNvSpPr/>
          <p:nvPr/>
        </p:nvSpPr>
        <p:spPr>
          <a:xfrm>
            <a:off x="3244850" y="1676400"/>
            <a:ext cx="2412900" cy="2412900"/>
          </a:xfrm>
          <a:prstGeom prst="roundRect">
            <a:avLst>
              <a:gd fmla="val 16667" name="adj"/>
            </a:avLst>
          </a:prstGeom>
          <a:solidFill>
            <a:srgbClr val="FCFBF7"/>
          </a:solidFill>
          <a:ln cap="flat" cmpd="sng" w="28575">
            <a:solidFill>
              <a:srgbClr val="DED7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8" name="Google Shape;168;p27"/>
          <p:cNvSpPr txBox="1"/>
          <p:nvPr/>
        </p:nvSpPr>
        <p:spPr>
          <a:xfrm>
            <a:off x="3447950" y="2464325"/>
            <a:ext cx="2006700" cy="673800"/>
          </a:xfrm>
          <a:prstGeom prst="rect">
            <a:avLst/>
          </a:prstGeom>
          <a:noFill/>
          <a:ln>
            <a:noFill/>
          </a:ln>
        </p:spPr>
        <p:txBody>
          <a:bodyPr anchorCtr="0" anchor="t" bIns="91425" lIns="91425" spcFirstLastPara="1" rIns="91425" wrap="square" tIns="91425">
            <a:noAutofit/>
          </a:bodyPr>
          <a:lstStyle/>
          <a:p>
            <a:pPr indent="0" lvl="0" marL="0" rtl="0" algn="ctr">
              <a:lnSpc>
                <a:spcPct val="116000"/>
              </a:lnSpc>
              <a:spcBef>
                <a:spcPts val="0"/>
              </a:spcBef>
              <a:spcAft>
                <a:spcPts val="700"/>
              </a:spcAft>
              <a:buNone/>
            </a:pPr>
            <a:r>
              <a:rPr b="1" lang="en" sz="2000">
                <a:solidFill>
                  <a:srgbClr val="102735"/>
                </a:solidFill>
                <a:latin typeface="Georgia"/>
                <a:ea typeface="Georgia"/>
                <a:cs typeface="Georgia"/>
                <a:sym typeface="Georgia"/>
              </a:rPr>
              <a:t>We cut down the bloat.</a:t>
            </a:r>
            <a:endParaRPr sz="1700">
              <a:solidFill>
                <a:srgbClr val="595959"/>
              </a:solidFill>
              <a:latin typeface="Avenir"/>
              <a:ea typeface="Avenir"/>
              <a:cs typeface="Avenir"/>
              <a:sym typeface="Avenir"/>
            </a:endParaRPr>
          </a:p>
        </p:txBody>
      </p:sp>
      <p:sp>
        <p:nvSpPr>
          <p:cNvPr id="169" name="Google Shape;169;p27"/>
          <p:cNvSpPr/>
          <p:nvPr/>
        </p:nvSpPr>
        <p:spPr>
          <a:xfrm>
            <a:off x="5861050" y="1676400"/>
            <a:ext cx="2412900" cy="2412900"/>
          </a:xfrm>
          <a:prstGeom prst="roundRect">
            <a:avLst>
              <a:gd fmla="val 16667" name="adj"/>
            </a:avLst>
          </a:prstGeom>
          <a:solidFill>
            <a:srgbClr val="FCFBF7"/>
          </a:solidFill>
          <a:ln cap="flat" cmpd="sng" w="28575">
            <a:solidFill>
              <a:srgbClr val="DED7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p27"/>
          <p:cNvSpPr txBox="1"/>
          <p:nvPr/>
        </p:nvSpPr>
        <p:spPr>
          <a:xfrm>
            <a:off x="6064150" y="2493125"/>
            <a:ext cx="2006700" cy="780300"/>
          </a:xfrm>
          <a:prstGeom prst="rect">
            <a:avLst/>
          </a:prstGeom>
          <a:noFill/>
          <a:ln>
            <a:noFill/>
          </a:ln>
        </p:spPr>
        <p:txBody>
          <a:bodyPr anchorCtr="0" anchor="t" bIns="91425" lIns="91425" spcFirstLastPara="1" rIns="91425" wrap="square" tIns="91425">
            <a:noAutofit/>
          </a:bodyPr>
          <a:lstStyle/>
          <a:p>
            <a:pPr indent="0" lvl="0" marL="0" rtl="0" algn="ctr">
              <a:lnSpc>
                <a:spcPct val="116000"/>
              </a:lnSpc>
              <a:spcBef>
                <a:spcPts val="0"/>
              </a:spcBef>
              <a:spcAft>
                <a:spcPts val="700"/>
              </a:spcAft>
              <a:buNone/>
            </a:pPr>
            <a:r>
              <a:rPr b="1" lang="en" sz="2000">
                <a:solidFill>
                  <a:srgbClr val="102735"/>
                </a:solidFill>
                <a:latin typeface="Georgia"/>
                <a:ea typeface="Georgia"/>
                <a:cs typeface="Georgia"/>
                <a:sym typeface="Georgia"/>
              </a:rPr>
              <a:t>Students stay engaged.</a:t>
            </a:r>
            <a:endParaRPr sz="1700">
              <a:solidFill>
                <a:srgbClr val="595959"/>
              </a:solidFill>
              <a:latin typeface="Avenir"/>
              <a:ea typeface="Avenir"/>
              <a:cs typeface="Avenir"/>
              <a:sym typeface="Aveni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7"/>
        </a:solidFill>
      </p:bgPr>
    </p:bg>
    <p:spTree>
      <p:nvGrpSpPr>
        <p:cNvPr id="174" name="Shape 174"/>
        <p:cNvGrpSpPr/>
        <p:nvPr/>
      </p:nvGrpSpPr>
      <p:grpSpPr>
        <a:xfrm>
          <a:off x="0" y="0"/>
          <a:ext cx="0" cy="0"/>
          <a:chOff x="0" y="0"/>
          <a:chExt cx="0" cy="0"/>
        </a:xfrm>
      </p:grpSpPr>
      <p:sp>
        <p:nvSpPr>
          <p:cNvPr id="175" name="Google Shape;175;p28"/>
          <p:cNvSpPr txBox="1"/>
          <p:nvPr/>
        </p:nvSpPr>
        <p:spPr>
          <a:xfrm>
            <a:off x="428950" y="2024950"/>
            <a:ext cx="2158800" cy="15087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2350">
                <a:solidFill>
                  <a:srgbClr val="102735"/>
                </a:solidFill>
                <a:latin typeface="Georgia"/>
                <a:ea typeface="Georgia"/>
                <a:cs typeface="Georgia"/>
                <a:sym typeface="Georgia"/>
              </a:rPr>
              <a:t>MCQ and</a:t>
            </a:r>
            <a:endParaRPr b="1" sz="2350">
              <a:solidFill>
                <a:srgbClr val="102735"/>
              </a:solidFill>
              <a:latin typeface="Georgia"/>
              <a:ea typeface="Georgia"/>
              <a:cs typeface="Georgia"/>
              <a:sym typeface="Georgia"/>
            </a:endParaRPr>
          </a:p>
          <a:p>
            <a:pPr indent="0" lvl="0" marL="0" rtl="0" algn="ctr">
              <a:lnSpc>
                <a:spcPct val="105000"/>
              </a:lnSpc>
              <a:spcBef>
                <a:spcPts val="0"/>
              </a:spcBef>
              <a:spcAft>
                <a:spcPts val="0"/>
              </a:spcAft>
              <a:buNone/>
            </a:pPr>
            <a:r>
              <a:rPr b="1" lang="en" sz="2350">
                <a:solidFill>
                  <a:srgbClr val="102735"/>
                </a:solidFill>
                <a:latin typeface="Georgia"/>
                <a:ea typeface="Georgia"/>
                <a:cs typeface="Georgia"/>
                <a:sym typeface="Georgia"/>
              </a:rPr>
              <a:t>Justification</a:t>
            </a:r>
            <a:endParaRPr b="1" sz="2350">
              <a:solidFill>
                <a:srgbClr val="102735"/>
              </a:solidFill>
              <a:latin typeface="Georgia"/>
              <a:ea typeface="Georgia"/>
              <a:cs typeface="Georgia"/>
              <a:sym typeface="Georgia"/>
            </a:endParaRPr>
          </a:p>
        </p:txBody>
      </p:sp>
      <p:sp>
        <p:nvSpPr>
          <p:cNvPr id="176" name="Google Shape;176;p28"/>
          <p:cNvSpPr txBox="1"/>
          <p:nvPr/>
        </p:nvSpPr>
        <p:spPr>
          <a:xfrm>
            <a:off x="530352" y="420624"/>
            <a:ext cx="2057400" cy="21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850">
                <a:solidFill>
                  <a:srgbClr val="9A6C28"/>
                </a:solidFill>
                <a:latin typeface="Avenir"/>
                <a:ea typeface="Avenir"/>
                <a:cs typeface="Avenir"/>
                <a:sym typeface="Avenir"/>
              </a:rPr>
              <a:t>PRODUCT WALKTHROUGH</a:t>
            </a:r>
            <a:endParaRPr b="1" sz="850">
              <a:solidFill>
                <a:srgbClr val="9A6C28"/>
              </a:solidFill>
              <a:latin typeface="Avenir"/>
              <a:ea typeface="Avenir"/>
              <a:cs typeface="Avenir"/>
              <a:sym typeface="Avenir"/>
            </a:endParaRPr>
          </a:p>
        </p:txBody>
      </p:sp>
      <p:sp>
        <p:nvSpPr>
          <p:cNvPr id="177" name="Google Shape;177;p28"/>
          <p:cNvSpPr txBox="1"/>
          <p:nvPr/>
        </p:nvSpPr>
        <p:spPr>
          <a:xfrm>
            <a:off x="530352" y="740664"/>
            <a:ext cx="658500" cy="274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050">
                <a:solidFill>
                  <a:srgbClr val="70CBBB"/>
                </a:solidFill>
                <a:latin typeface="Avenir"/>
                <a:ea typeface="Avenir"/>
                <a:cs typeface="Avenir"/>
                <a:sym typeface="Avenir"/>
              </a:rPr>
              <a:t>02 / 08</a:t>
            </a:r>
            <a:endParaRPr b="1" sz="1050">
              <a:solidFill>
                <a:srgbClr val="70CBBB"/>
              </a:solidFill>
              <a:latin typeface="Avenir"/>
              <a:ea typeface="Avenir"/>
              <a:cs typeface="Avenir"/>
              <a:sym typeface="Avenir"/>
            </a:endParaRPr>
          </a:p>
        </p:txBody>
      </p:sp>
      <p:sp>
        <p:nvSpPr>
          <p:cNvPr id="178" name="Google Shape;178;p28"/>
          <p:cNvSpPr/>
          <p:nvPr/>
        </p:nvSpPr>
        <p:spPr>
          <a:xfrm>
            <a:off x="1243584" y="896112"/>
            <a:ext cx="1143000" cy="22800"/>
          </a:xfrm>
          <a:prstGeom prst="rect">
            <a:avLst/>
          </a:prstGeom>
          <a:solidFill>
            <a:srgbClr val="70CBB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9" name="Google Shape;179;p28"/>
          <p:cNvSpPr txBox="1"/>
          <p:nvPr/>
        </p:nvSpPr>
        <p:spPr>
          <a:xfrm>
            <a:off x="2871216" y="4681728"/>
            <a:ext cx="5806500" cy="183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b="1" lang="en" sz="800">
                <a:solidFill>
                  <a:srgbClr val="9A6C28"/>
                </a:solidFill>
                <a:latin typeface="Avenir"/>
                <a:ea typeface="Avenir"/>
                <a:cs typeface="Avenir"/>
                <a:sym typeface="Avenir"/>
              </a:rPr>
              <a:t>LAWYER TYCOON  ·  LIVE PRODUCT DEMO</a:t>
            </a:r>
            <a:endParaRPr b="1" sz="800">
              <a:solidFill>
                <a:srgbClr val="9A6C28"/>
              </a:solidFill>
              <a:latin typeface="Avenir"/>
              <a:ea typeface="Avenir"/>
              <a:cs typeface="Avenir"/>
              <a:sym typeface="Avenir"/>
            </a:endParaRPr>
          </a:p>
        </p:txBody>
      </p:sp>
      <p:pic>
        <p:nvPicPr>
          <p:cNvPr id="180" name="Google Shape;180;p28" title="lawyer-tycoon-slide5-strategy-mcq-review.gif"/>
          <p:cNvPicPr preferRelativeResize="0"/>
          <p:nvPr/>
        </p:nvPicPr>
        <p:blipFill>
          <a:blip r:embed="rId3">
            <a:alphaModFix/>
          </a:blip>
          <a:stretch>
            <a:fillRect/>
          </a:stretch>
        </p:blipFill>
        <p:spPr>
          <a:xfrm>
            <a:off x="2871225" y="640225"/>
            <a:ext cx="6059249" cy="378702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7"/>
        </a:solidFill>
      </p:bgPr>
    </p:bg>
    <p:spTree>
      <p:nvGrpSpPr>
        <p:cNvPr id="184" name="Shape 184"/>
        <p:cNvGrpSpPr/>
        <p:nvPr/>
      </p:nvGrpSpPr>
      <p:grpSpPr>
        <a:xfrm>
          <a:off x="0" y="0"/>
          <a:ext cx="0" cy="0"/>
          <a:chOff x="0" y="0"/>
          <a:chExt cx="0" cy="0"/>
        </a:xfrm>
      </p:grpSpPr>
      <p:pic>
        <p:nvPicPr>
          <p:cNvPr id="185" name="Google Shape;185;p29" title="llm-reasoning-feedback.gif"/>
          <p:cNvPicPr preferRelativeResize="0"/>
          <p:nvPr/>
        </p:nvPicPr>
        <p:blipFill>
          <a:blip r:embed="rId3">
            <a:alphaModFix/>
          </a:blip>
          <a:stretch>
            <a:fillRect/>
          </a:stretch>
        </p:blipFill>
        <p:spPr>
          <a:xfrm>
            <a:off x="2871226" y="640225"/>
            <a:ext cx="6002801" cy="3751751"/>
          </a:xfrm>
          <a:prstGeom prst="rect">
            <a:avLst/>
          </a:prstGeom>
          <a:noFill/>
          <a:ln cap="flat" cmpd="sng" w="28575">
            <a:solidFill>
              <a:schemeClr val="dk2"/>
            </a:solidFill>
            <a:prstDash val="solid"/>
            <a:round/>
            <a:headEnd len="sm" w="sm" type="none"/>
            <a:tailEnd len="sm" w="sm" type="none"/>
          </a:ln>
        </p:spPr>
      </p:pic>
      <p:sp>
        <p:nvSpPr>
          <p:cNvPr id="186" name="Google Shape;186;p29"/>
          <p:cNvSpPr txBox="1"/>
          <p:nvPr/>
        </p:nvSpPr>
        <p:spPr>
          <a:xfrm>
            <a:off x="444775" y="1938000"/>
            <a:ext cx="2212500" cy="15087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2250">
                <a:solidFill>
                  <a:srgbClr val="102735"/>
                </a:solidFill>
                <a:latin typeface="Georgia"/>
                <a:ea typeface="Georgia"/>
                <a:cs typeface="Georgia"/>
                <a:sym typeface="Georgia"/>
              </a:rPr>
              <a:t>Feedback on</a:t>
            </a:r>
            <a:endParaRPr b="1" sz="2250">
              <a:solidFill>
                <a:srgbClr val="102735"/>
              </a:solidFill>
              <a:latin typeface="Georgia"/>
              <a:ea typeface="Georgia"/>
              <a:cs typeface="Georgia"/>
              <a:sym typeface="Georgia"/>
            </a:endParaRPr>
          </a:p>
          <a:p>
            <a:pPr indent="0" lvl="0" marL="0" rtl="0" algn="ctr">
              <a:lnSpc>
                <a:spcPct val="105000"/>
              </a:lnSpc>
              <a:spcBef>
                <a:spcPts val="0"/>
              </a:spcBef>
              <a:spcAft>
                <a:spcPts val="0"/>
              </a:spcAft>
              <a:buNone/>
            </a:pPr>
            <a:r>
              <a:rPr b="1" lang="en" sz="2250">
                <a:solidFill>
                  <a:srgbClr val="102735"/>
                </a:solidFill>
                <a:latin typeface="Georgia"/>
                <a:ea typeface="Georgia"/>
                <a:cs typeface="Georgia"/>
                <a:sym typeface="Georgia"/>
              </a:rPr>
              <a:t>Every Question</a:t>
            </a:r>
            <a:endParaRPr b="1" sz="2250">
              <a:solidFill>
                <a:srgbClr val="102735"/>
              </a:solidFill>
              <a:latin typeface="Georgia"/>
              <a:ea typeface="Georgia"/>
              <a:cs typeface="Georgia"/>
              <a:sym typeface="Georgia"/>
            </a:endParaRPr>
          </a:p>
        </p:txBody>
      </p:sp>
      <p:sp>
        <p:nvSpPr>
          <p:cNvPr id="187" name="Google Shape;187;p29"/>
          <p:cNvSpPr txBox="1"/>
          <p:nvPr/>
        </p:nvSpPr>
        <p:spPr>
          <a:xfrm>
            <a:off x="530352" y="420624"/>
            <a:ext cx="2057400" cy="21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850">
                <a:solidFill>
                  <a:srgbClr val="9A6C28"/>
                </a:solidFill>
                <a:latin typeface="Avenir"/>
                <a:ea typeface="Avenir"/>
                <a:cs typeface="Avenir"/>
                <a:sym typeface="Avenir"/>
              </a:rPr>
              <a:t>PRODUCT WALKTHROUGH</a:t>
            </a:r>
            <a:endParaRPr b="1" sz="850">
              <a:solidFill>
                <a:srgbClr val="9A6C28"/>
              </a:solidFill>
              <a:latin typeface="Avenir"/>
              <a:ea typeface="Avenir"/>
              <a:cs typeface="Avenir"/>
              <a:sym typeface="Avenir"/>
            </a:endParaRPr>
          </a:p>
        </p:txBody>
      </p:sp>
      <p:sp>
        <p:nvSpPr>
          <p:cNvPr id="188" name="Google Shape;188;p29"/>
          <p:cNvSpPr txBox="1"/>
          <p:nvPr/>
        </p:nvSpPr>
        <p:spPr>
          <a:xfrm>
            <a:off x="530352" y="740664"/>
            <a:ext cx="658500" cy="274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050">
                <a:solidFill>
                  <a:srgbClr val="70CBBB"/>
                </a:solidFill>
                <a:latin typeface="Avenir"/>
                <a:ea typeface="Avenir"/>
                <a:cs typeface="Avenir"/>
                <a:sym typeface="Avenir"/>
              </a:rPr>
              <a:t>03 / 08</a:t>
            </a:r>
            <a:endParaRPr b="1" sz="1050">
              <a:solidFill>
                <a:srgbClr val="70CBBB"/>
              </a:solidFill>
              <a:latin typeface="Avenir"/>
              <a:ea typeface="Avenir"/>
              <a:cs typeface="Avenir"/>
              <a:sym typeface="Avenir"/>
            </a:endParaRPr>
          </a:p>
        </p:txBody>
      </p:sp>
      <p:sp>
        <p:nvSpPr>
          <p:cNvPr id="189" name="Google Shape;189;p29"/>
          <p:cNvSpPr/>
          <p:nvPr/>
        </p:nvSpPr>
        <p:spPr>
          <a:xfrm>
            <a:off x="1243584" y="896112"/>
            <a:ext cx="1143000" cy="22800"/>
          </a:xfrm>
          <a:prstGeom prst="rect">
            <a:avLst/>
          </a:prstGeom>
          <a:solidFill>
            <a:srgbClr val="70CBB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0" name="Google Shape;190;p29"/>
          <p:cNvSpPr txBox="1"/>
          <p:nvPr/>
        </p:nvSpPr>
        <p:spPr>
          <a:xfrm>
            <a:off x="2871216" y="4681728"/>
            <a:ext cx="5806500" cy="183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b="1" lang="en" sz="800">
                <a:solidFill>
                  <a:srgbClr val="9A6C28"/>
                </a:solidFill>
                <a:latin typeface="Avenir"/>
                <a:ea typeface="Avenir"/>
                <a:cs typeface="Avenir"/>
                <a:sym typeface="Avenir"/>
              </a:rPr>
              <a:t>LAWYER TYCOON  ·  LIVE PRODUCT DEMO</a:t>
            </a:r>
            <a:endParaRPr b="1" sz="800">
              <a:solidFill>
                <a:srgbClr val="9A6C28"/>
              </a:solidFill>
              <a:latin typeface="Avenir"/>
              <a:ea typeface="Avenir"/>
              <a:cs typeface="Avenir"/>
              <a:sym typeface="Aveni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7"/>
        </a:solidFill>
      </p:bgPr>
    </p:bg>
    <p:spTree>
      <p:nvGrpSpPr>
        <p:cNvPr id="194" name="Shape 194"/>
        <p:cNvGrpSpPr/>
        <p:nvPr/>
      </p:nvGrpSpPr>
      <p:grpSpPr>
        <a:xfrm>
          <a:off x="0" y="0"/>
          <a:ext cx="0" cy="0"/>
          <a:chOff x="0" y="0"/>
          <a:chExt cx="0" cy="0"/>
        </a:xfrm>
      </p:grpSpPr>
      <p:pic>
        <p:nvPicPr>
          <p:cNvPr id="195" name="Google Shape;195;p30" title="strategy-methods.gif"/>
          <p:cNvPicPr preferRelativeResize="0"/>
          <p:nvPr/>
        </p:nvPicPr>
        <p:blipFill>
          <a:blip r:embed="rId3">
            <a:alphaModFix/>
          </a:blip>
          <a:stretch>
            <a:fillRect/>
          </a:stretch>
        </p:blipFill>
        <p:spPr>
          <a:xfrm>
            <a:off x="2871216" y="820103"/>
            <a:ext cx="5715000" cy="3571875"/>
          </a:xfrm>
          <a:prstGeom prst="rect">
            <a:avLst/>
          </a:prstGeom>
          <a:noFill/>
          <a:ln cap="flat" cmpd="sng" w="28575">
            <a:solidFill>
              <a:schemeClr val="dk2"/>
            </a:solidFill>
            <a:prstDash val="solid"/>
            <a:round/>
            <a:headEnd len="sm" w="sm" type="none"/>
            <a:tailEnd len="sm" w="sm" type="none"/>
          </a:ln>
        </p:spPr>
      </p:pic>
      <p:sp>
        <p:nvSpPr>
          <p:cNvPr id="196" name="Google Shape;196;p30"/>
          <p:cNvSpPr txBox="1"/>
          <p:nvPr/>
        </p:nvSpPr>
        <p:spPr>
          <a:xfrm>
            <a:off x="530350" y="1919900"/>
            <a:ext cx="2115600" cy="15087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2250">
                <a:solidFill>
                  <a:srgbClr val="102735"/>
                </a:solidFill>
                <a:latin typeface="Georgia"/>
                <a:ea typeface="Georgia"/>
                <a:cs typeface="Georgia"/>
                <a:sym typeface="Georgia"/>
              </a:rPr>
              <a:t>Adaptive Question +</a:t>
            </a:r>
            <a:endParaRPr b="1" sz="2250">
              <a:solidFill>
                <a:srgbClr val="102735"/>
              </a:solidFill>
              <a:latin typeface="Georgia"/>
              <a:ea typeface="Georgia"/>
              <a:cs typeface="Georgia"/>
              <a:sym typeface="Georgia"/>
            </a:endParaRPr>
          </a:p>
          <a:p>
            <a:pPr indent="0" lvl="0" marL="0" rtl="0" algn="ctr">
              <a:lnSpc>
                <a:spcPct val="105000"/>
              </a:lnSpc>
              <a:spcBef>
                <a:spcPts val="0"/>
              </a:spcBef>
              <a:spcAft>
                <a:spcPts val="0"/>
              </a:spcAft>
              <a:buNone/>
            </a:pPr>
            <a:r>
              <a:rPr b="1" lang="en" sz="2250">
                <a:solidFill>
                  <a:srgbClr val="102735"/>
                </a:solidFill>
                <a:latin typeface="Georgia"/>
                <a:ea typeface="Georgia"/>
                <a:cs typeface="Georgia"/>
                <a:sym typeface="Georgia"/>
              </a:rPr>
              <a:t>Strategy Selection</a:t>
            </a:r>
            <a:endParaRPr b="1" sz="2250">
              <a:solidFill>
                <a:srgbClr val="102735"/>
              </a:solidFill>
              <a:latin typeface="Georgia"/>
              <a:ea typeface="Georgia"/>
              <a:cs typeface="Georgia"/>
              <a:sym typeface="Georgia"/>
            </a:endParaRPr>
          </a:p>
        </p:txBody>
      </p:sp>
      <p:sp>
        <p:nvSpPr>
          <p:cNvPr id="197" name="Google Shape;197;p30"/>
          <p:cNvSpPr txBox="1"/>
          <p:nvPr/>
        </p:nvSpPr>
        <p:spPr>
          <a:xfrm>
            <a:off x="530352" y="420624"/>
            <a:ext cx="2057400" cy="21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850">
                <a:solidFill>
                  <a:srgbClr val="9A6C28"/>
                </a:solidFill>
                <a:latin typeface="Avenir"/>
                <a:ea typeface="Avenir"/>
                <a:cs typeface="Avenir"/>
                <a:sym typeface="Avenir"/>
              </a:rPr>
              <a:t>PRODUCT WALKTHROUGH</a:t>
            </a:r>
            <a:endParaRPr b="1" sz="850">
              <a:solidFill>
                <a:srgbClr val="9A6C28"/>
              </a:solidFill>
              <a:latin typeface="Avenir"/>
              <a:ea typeface="Avenir"/>
              <a:cs typeface="Avenir"/>
              <a:sym typeface="Avenir"/>
            </a:endParaRPr>
          </a:p>
        </p:txBody>
      </p:sp>
      <p:sp>
        <p:nvSpPr>
          <p:cNvPr id="198" name="Google Shape;198;p30"/>
          <p:cNvSpPr txBox="1"/>
          <p:nvPr/>
        </p:nvSpPr>
        <p:spPr>
          <a:xfrm>
            <a:off x="530352" y="740664"/>
            <a:ext cx="658500" cy="274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050">
                <a:solidFill>
                  <a:srgbClr val="70CBBB"/>
                </a:solidFill>
                <a:latin typeface="Avenir"/>
                <a:ea typeface="Avenir"/>
                <a:cs typeface="Avenir"/>
                <a:sym typeface="Avenir"/>
              </a:rPr>
              <a:t>04 / 08</a:t>
            </a:r>
            <a:endParaRPr b="1" sz="1050">
              <a:solidFill>
                <a:srgbClr val="70CBBB"/>
              </a:solidFill>
              <a:latin typeface="Avenir"/>
              <a:ea typeface="Avenir"/>
              <a:cs typeface="Avenir"/>
              <a:sym typeface="Avenir"/>
            </a:endParaRPr>
          </a:p>
        </p:txBody>
      </p:sp>
      <p:sp>
        <p:nvSpPr>
          <p:cNvPr id="199" name="Google Shape;199;p30"/>
          <p:cNvSpPr/>
          <p:nvPr/>
        </p:nvSpPr>
        <p:spPr>
          <a:xfrm>
            <a:off x="1243584" y="896112"/>
            <a:ext cx="1143000" cy="22800"/>
          </a:xfrm>
          <a:prstGeom prst="rect">
            <a:avLst/>
          </a:prstGeom>
          <a:solidFill>
            <a:srgbClr val="70CBB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0" name="Google Shape;200;p30"/>
          <p:cNvSpPr txBox="1"/>
          <p:nvPr/>
        </p:nvSpPr>
        <p:spPr>
          <a:xfrm>
            <a:off x="2871216" y="4681728"/>
            <a:ext cx="5806500" cy="183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b="1" lang="en" sz="800">
                <a:solidFill>
                  <a:srgbClr val="9A6C28"/>
                </a:solidFill>
                <a:latin typeface="Avenir"/>
                <a:ea typeface="Avenir"/>
                <a:cs typeface="Avenir"/>
                <a:sym typeface="Avenir"/>
              </a:rPr>
              <a:t>LAWYER TYCOON  ·  LIVE PRODUCT DEMO</a:t>
            </a:r>
            <a:endParaRPr b="1" sz="800">
              <a:solidFill>
                <a:srgbClr val="9A6C28"/>
              </a:solidFill>
              <a:latin typeface="Avenir"/>
              <a:ea typeface="Avenir"/>
              <a:cs typeface="Avenir"/>
              <a:sym typeface="Aveni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7"/>
        </a:solidFill>
      </p:bgPr>
    </p:bg>
    <p:spTree>
      <p:nvGrpSpPr>
        <p:cNvPr id="204" name="Shape 204"/>
        <p:cNvGrpSpPr/>
        <p:nvPr/>
      </p:nvGrpSpPr>
      <p:grpSpPr>
        <a:xfrm>
          <a:off x="0" y="0"/>
          <a:ext cx="0" cy="0"/>
          <a:chOff x="0" y="0"/>
          <a:chExt cx="0" cy="0"/>
        </a:xfrm>
      </p:grpSpPr>
      <p:sp>
        <p:nvSpPr>
          <p:cNvPr id="205" name="Google Shape;205;p31"/>
          <p:cNvSpPr txBox="1"/>
          <p:nvPr/>
        </p:nvSpPr>
        <p:spPr>
          <a:xfrm>
            <a:off x="455650" y="1884375"/>
            <a:ext cx="2206800" cy="15087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2250">
                <a:solidFill>
                  <a:srgbClr val="102735"/>
                </a:solidFill>
                <a:latin typeface="Georgia"/>
                <a:ea typeface="Georgia"/>
                <a:cs typeface="Georgia"/>
                <a:sym typeface="Georgia"/>
              </a:rPr>
              <a:t>Upgrade Your Firm Using Virtual Currency.</a:t>
            </a:r>
            <a:endParaRPr b="1" sz="2250">
              <a:solidFill>
                <a:srgbClr val="102735"/>
              </a:solidFill>
              <a:latin typeface="Georgia"/>
              <a:ea typeface="Georgia"/>
              <a:cs typeface="Georgia"/>
              <a:sym typeface="Georgia"/>
            </a:endParaRPr>
          </a:p>
        </p:txBody>
      </p:sp>
      <p:sp>
        <p:nvSpPr>
          <p:cNvPr id="206" name="Google Shape;206;p31"/>
          <p:cNvSpPr txBox="1"/>
          <p:nvPr/>
        </p:nvSpPr>
        <p:spPr>
          <a:xfrm>
            <a:off x="530352" y="420624"/>
            <a:ext cx="2057400" cy="21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850">
                <a:solidFill>
                  <a:srgbClr val="9A6C28"/>
                </a:solidFill>
                <a:latin typeface="Avenir"/>
                <a:ea typeface="Avenir"/>
                <a:cs typeface="Avenir"/>
                <a:sym typeface="Avenir"/>
              </a:rPr>
              <a:t>PRODUCT WALKTHROUGH</a:t>
            </a:r>
            <a:endParaRPr b="1" sz="850">
              <a:solidFill>
                <a:srgbClr val="9A6C28"/>
              </a:solidFill>
              <a:latin typeface="Avenir"/>
              <a:ea typeface="Avenir"/>
              <a:cs typeface="Avenir"/>
              <a:sym typeface="Avenir"/>
            </a:endParaRPr>
          </a:p>
        </p:txBody>
      </p:sp>
      <p:sp>
        <p:nvSpPr>
          <p:cNvPr id="207" name="Google Shape;207;p31"/>
          <p:cNvSpPr txBox="1"/>
          <p:nvPr/>
        </p:nvSpPr>
        <p:spPr>
          <a:xfrm>
            <a:off x="530352" y="740664"/>
            <a:ext cx="658500" cy="274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050">
                <a:solidFill>
                  <a:srgbClr val="70CBBB"/>
                </a:solidFill>
                <a:latin typeface="Avenir"/>
                <a:ea typeface="Avenir"/>
                <a:cs typeface="Avenir"/>
                <a:sym typeface="Avenir"/>
              </a:rPr>
              <a:t>06 / 08</a:t>
            </a:r>
            <a:endParaRPr b="1" sz="1050">
              <a:solidFill>
                <a:srgbClr val="70CBBB"/>
              </a:solidFill>
              <a:latin typeface="Avenir"/>
              <a:ea typeface="Avenir"/>
              <a:cs typeface="Avenir"/>
              <a:sym typeface="Avenir"/>
            </a:endParaRPr>
          </a:p>
        </p:txBody>
      </p:sp>
      <p:sp>
        <p:nvSpPr>
          <p:cNvPr id="208" name="Google Shape;208;p31"/>
          <p:cNvSpPr/>
          <p:nvPr/>
        </p:nvSpPr>
        <p:spPr>
          <a:xfrm>
            <a:off x="1243584" y="896112"/>
            <a:ext cx="1143000" cy="22800"/>
          </a:xfrm>
          <a:prstGeom prst="rect">
            <a:avLst/>
          </a:prstGeom>
          <a:solidFill>
            <a:srgbClr val="70CBB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9" name="Google Shape;209;p31"/>
          <p:cNvSpPr txBox="1"/>
          <p:nvPr/>
        </p:nvSpPr>
        <p:spPr>
          <a:xfrm>
            <a:off x="2871216" y="4681728"/>
            <a:ext cx="5806500" cy="183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b="1" lang="en" sz="800">
                <a:solidFill>
                  <a:srgbClr val="9A6C28"/>
                </a:solidFill>
                <a:latin typeface="Avenir"/>
                <a:ea typeface="Avenir"/>
                <a:cs typeface="Avenir"/>
                <a:sym typeface="Avenir"/>
              </a:rPr>
              <a:t>LAWYER TYCOON  ·  LIVE PRODUCT DEMO</a:t>
            </a:r>
            <a:endParaRPr b="1" sz="800">
              <a:solidFill>
                <a:srgbClr val="9A6C28"/>
              </a:solidFill>
              <a:latin typeface="Avenir"/>
              <a:ea typeface="Avenir"/>
              <a:cs typeface="Avenir"/>
              <a:sym typeface="Avenir"/>
            </a:endParaRPr>
          </a:p>
        </p:txBody>
      </p:sp>
      <p:pic>
        <p:nvPicPr>
          <p:cNvPr id="210" name="Google Shape;210;p31" title="gamegif.gif"/>
          <p:cNvPicPr preferRelativeResize="0"/>
          <p:nvPr/>
        </p:nvPicPr>
        <p:blipFill rotWithShape="1">
          <a:blip r:embed="rId3">
            <a:alphaModFix/>
          </a:blip>
          <a:srcRect b="0" l="16697" r="16703" t="0"/>
          <a:stretch/>
        </p:blipFill>
        <p:spPr>
          <a:xfrm>
            <a:off x="2871225" y="785813"/>
            <a:ext cx="5715000" cy="3571863"/>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2" title="lawyer-tycoon-research-backed.png"/>
          <p:cNvPicPr preferRelativeResize="0"/>
          <p:nvPr/>
        </p:nvPicPr>
        <p:blipFill rotWithShape="1">
          <a:blip r:embed="rId3">
            <a:alphaModFix/>
          </a:blip>
          <a:srcRect b="0" l="0" r="0" t="0"/>
          <a:stretch/>
        </p:blipFill>
        <p:spPr>
          <a:xfrm>
            <a:off x="0" y="0"/>
            <a:ext cx="9144003" cy="51434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7"/>
        </a:solidFill>
      </p:bgPr>
    </p:bg>
    <p:spTree>
      <p:nvGrpSpPr>
        <p:cNvPr id="219" name="Shape 219"/>
        <p:cNvGrpSpPr/>
        <p:nvPr/>
      </p:nvGrpSpPr>
      <p:grpSpPr>
        <a:xfrm>
          <a:off x="0" y="0"/>
          <a:ext cx="0" cy="0"/>
          <a:chOff x="0" y="0"/>
          <a:chExt cx="0" cy="0"/>
        </a:xfrm>
      </p:grpSpPr>
      <p:sp>
        <p:nvSpPr>
          <p:cNvPr id="220" name="Google Shape;220;p33"/>
          <p:cNvSpPr txBox="1"/>
          <p:nvPr/>
        </p:nvSpPr>
        <p:spPr>
          <a:xfrm>
            <a:off x="530350" y="1817400"/>
            <a:ext cx="1707000" cy="15087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2250">
                <a:solidFill>
                  <a:srgbClr val="102735"/>
                </a:solidFill>
                <a:latin typeface="Georgia"/>
                <a:ea typeface="Georgia"/>
                <a:cs typeface="Georgia"/>
                <a:sym typeface="Georgia"/>
              </a:rPr>
              <a:t>Your Law Firm.</a:t>
            </a:r>
            <a:endParaRPr b="1" sz="2250">
              <a:solidFill>
                <a:srgbClr val="102735"/>
              </a:solidFill>
              <a:latin typeface="Georgia"/>
              <a:ea typeface="Georgia"/>
              <a:cs typeface="Georgia"/>
              <a:sym typeface="Georgia"/>
            </a:endParaRPr>
          </a:p>
        </p:txBody>
      </p:sp>
      <p:sp>
        <p:nvSpPr>
          <p:cNvPr id="221" name="Google Shape;221;p33"/>
          <p:cNvSpPr txBox="1"/>
          <p:nvPr/>
        </p:nvSpPr>
        <p:spPr>
          <a:xfrm>
            <a:off x="530352" y="420624"/>
            <a:ext cx="2057400" cy="21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850">
                <a:solidFill>
                  <a:srgbClr val="9A6C28"/>
                </a:solidFill>
                <a:latin typeface="Avenir"/>
                <a:ea typeface="Avenir"/>
                <a:cs typeface="Avenir"/>
                <a:sym typeface="Avenir"/>
              </a:rPr>
              <a:t>PRODUCT WALKTHROUGH</a:t>
            </a:r>
            <a:endParaRPr b="1" sz="850">
              <a:solidFill>
                <a:srgbClr val="9A6C28"/>
              </a:solidFill>
              <a:latin typeface="Avenir"/>
              <a:ea typeface="Avenir"/>
              <a:cs typeface="Avenir"/>
              <a:sym typeface="Avenir"/>
            </a:endParaRPr>
          </a:p>
        </p:txBody>
      </p:sp>
      <p:sp>
        <p:nvSpPr>
          <p:cNvPr id="222" name="Google Shape;222;p33"/>
          <p:cNvSpPr txBox="1"/>
          <p:nvPr/>
        </p:nvSpPr>
        <p:spPr>
          <a:xfrm>
            <a:off x="530352" y="740664"/>
            <a:ext cx="658500" cy="274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050">
                <a:solidFill>
                  <a:srgbClr val="70CBBB"/>
                </a:solidFill>
                <a:latin typeface="Avenir"/>
                <a:ea typeface="Avenir"/>
                <a:cs typeface="Avenir"/>
                <a:sym typeface="Avenir"/>
              </a:rPr>
              <a:t>07 / 08</a:t>
            </a:r>
            <a:endParaRPr b="1" sz="1050">
              <a:solidFill>
                <a:srgbClr val="70CBBB"/>
              </a:solidFill>
              <a:latin typeface="Avenir"/>
              <a:ea typeface="Avenir"/>
              <a:cs typeface="Avenir"/>
              <a:sym typeface="Avenir"/>
            </a:endParaRPr>
          </a:p>
        </p:txBody>
      </p:sp>
      <p:sp>
        <p:nvSpPr>
          <p:cNvPr id="223" name="Google Shape;223;p33"/>
          <p:cNvSpPr/>
          <p:nvPr/>
        </p:nvSpPr>
        <p:spPr>
          <a:xfrm>
            <a:off x="1243584" y="896112"/>
            <a:ext cx="1143000" cy="22800"/>
          </a:xfrm>
          <a:prstGeom prst="rect">
            <a:avLst/>
          </a:prstGeom>
          <a:solidFill>
            <a:srgbClr val="70CBB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4" name="Google Shape;224;p33"/>
          <p:cNvSpPr txBox="1"/>
          <p:nvPr/>
        </p:nvSpPr>
        <p:spPr>
          <a:xfrm>
            <a:off x="2871216" y="4681728"/>
            <a:ext cx="5806500" cy="183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b="1" lang="en" sz="800">
                <a:solidFill>
                  <a:srgbClr val="9A6C28"/>
                </a:solidFill>
                <a:latin typeface="Avenir"/>
                <a:ea typeface="Avenir"/>
                <a:cs typeface="Avenir"/>
                <a:sym typeface="Avenir"/>
              </a:rPr>
              <a:t>LAWYER TYCOON  ·  LIVE PRODUCT DEMO</a:t>
            </a:r>
            <a:endParaRPr b="1" sz="800">
              <a:solidFill>
                <a:srgbClr val="9A6C28"/>
              </a:solidFill>
              <a:latin typeface="Avenir"/>
              <a:ea typeface="Avenir"/>
              <a:cs typeface="Avenir"/>
              <a:sym typeface="Avenir"/>
            </a:endParaRPr>
          </a:p>
        </p:txBody>
      </p:sp>
      <p:pic>
        <p:nvPicPr>
          <p:cNvPr id="225" name="Google Shape;225;p33" title="lawyer-tycoon-slide10-firm-upgrades.gif"/>
          <p:cNvPicPr preferRelativeResize="0"/>
          <p:nvPr/>
        </p:nvPicPr>
        <p:blipFill>
          <a:blip r:embed="rId3">
            <a:alphaModFix/>
          </a:blip>
          <a:stretch>
            <a:fillRect/>
          </a:stretch>
        </p:blipFill>
        <p:spPr>
          <a:xfrm>
            <a:off x="2587750" y="420625"/>
            <a:ext cx="6377834" cy="3986149"/>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7"/>
        </a:solidFill>
      </p:bgPr>
    </p:bg>
    <p:spTree>
      <p:nvGrpSpPr>
        <p:cNvPr id="229" name="Shape 229"/>
        <p:cNvGrpSpPr/>
        <p:nvPr/>
      </p:nvGrpSpPr>
      <p:grpSpPr>
        <a:xfrm>
          <a:off x="0" y="0"/>
          <a:ext cx="0" cy="0"/>
          <a:chOff x="0" y="0"/>
          <a:chExt cx="0" cy="0"/>
        </a:xfrm>
      </p:grpSpPr>
      <p:sp>
        <p:nvSpPr>
          <p:cNvPr id="230" name="Google Shape;230;p34"/>
          <p:cNvSpPr txBox="1"/>
          <p:nvPr/>
        </p:nvSpPr>
        <p:spPr>
          <a:xfrm>
            <a:off x="530350" y="1465887"/>
            <a:ext cx="2057400" cy="2280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2250">
                <a:solidFill>
                  <a:srgbClr val="102735"/>
                </a:solidFill>
                <a:latin typeface="Georgia"/>
                <a:ea typeface="Georgia"/>
                <a:cs typeface="Georgia"/>
                <a:sym typeface="Georgia"/>
              </a:rPr>
              <a:t>Progress to Higher-Tier Law Firms and Start Earning More.</a:t>
            </a:r>
            <a:endParaRPr b="1" sz="2250">
              <a:solidFill>
                <a:srgbClr val="102735"/>
              </a:solidFill>
              <a:latin typeface="Georgia"/>
              <a:ea typeface="Georgia"/>
              <a:cs typeface="Georgia"/>
              <a:sym typeface="Georgia"/>
            </a:endParaRPr>
          </a:p>
        </p:txBody>
      </p:sp>
      <p:sp>
        <p:nvSpPr>
          <p:cNvPr id="231" name="Google Shape;231;p34"/>
          <p:cNvSpPr txBox="1"/>
          <p:nvPr/>
        </p:nvSpPr>
        <p:spPr>
          <a:xfrm>
            <a:off x="530352" y="420624"/>
            <a:ext cx="2057400" cy="21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850">
                <a:solidFill>
                  <a:srgbClr val="9A6C28"/>
                </a:solidFill>
                <a:latin typeface="Avenir"/>
                <a:ea typeface="Avenir"/>
                <a:cs typeface="Avenir"/>
                <a:sym typeface="Avenir"/>
              </a:rPr>
              <a:t>PRODUCT WALKTHROUGH</a:t>
            </a:r>
            <a:endParaRPr b="1" sz="850">
              <a:solidFill>
                <a:srgbClr val="9A6C28"/>
              </a:solidFill>
              <a:latin typeface="Avenir"/>
              <a:ea typeface="Avenir"/>
              <a:cs typeface="Avenir"/>
              <a:sym typeface="Avenir"/>
            </a:endParaRPr>
          </a:p>
        </p:txBody>
      </p:sp>
      <p:sp>
        <p:nvSpPr>
          <p:cNvPr id="232" name="Google Shape;232;p34"/>
          <p:cNvSpPr txBox="1"/>
          <p:nvPr/>
        </p:nvSpPr>
        <p:spPr>
          <a:xfrm>
            <a:off x="530352" y="740664"/>
            <a:ext cx="658500" cy="274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050">
                <a:solidFill>
                  <a:srgbClr val="70CBBB"/>
                </a:solidFill>
                <a:latin typeface="Avenir"/>
                <a:ea typeface="Avenir"/>
                <a:cs typeface="Avenir"/>
                <a:sym typeface="Avenir"/>
              </a:rPr>
              <a:t>08 / 08</a:t>
            </a:r>
            <a:endParaRPr b="1" sz="1050">
              <a:solidFill>
                <a:srgbClr val="70CBBB"/>
              </a:solidFill>
              <a:latin typeface="Avenir"/>
              <a:ea typeface="Avenir"/>
              <a:cs typeface="Avenir"/>
              <a:sym typeface="Avenir"/>
            </a:endParaRPr>
          </a:p>
        </p:txBody>
      </p:sp>
      <p:sp>
        <p:nvSpPr>
          <p:cNvPr id="233" name="Google Shape;233;p34"/>
          <p:cNvSpPr/>
          <p:nvPr/>
        </p:nvSpPr>
        <p:spPr>
          <a:xfrm>
            <a:off x="1243584" y="896112"/>
            <a:ext cx="1143000" cy="22800"/>
          </a:xfrm>
          <a:prstGeom prst="rect">
            <a:avLst/>
          </a:prstGeom>
          <a:solidFill>
            <a:srgbClr val="70CBB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4" name="Google Shape;234;p34"/>
          <p:cNvSpPr txBox="1"/>
          <p:nvPr/>
        </p:nvSpPr>
        <p:spPr>
          <a:xfrm>
            <a:off x="2871216" y="4681728"/>
            <a:ext cx="5806500" cy="183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b="1" lang="en" sz="800">
                <a:solidFill>
                  <a:srgbClr val="9A6C28"/>
                </a:solidFill>
                <a:latin typeface="Avenir"/>
                <a:ea typeface="Avenir"/>
                <a:cs typeface="Avenir"/>
                <a:sym typeface="Avenir"/>
              </a:rPr>
              <a:t>LAWYER TYCOON  ·  LIVE PRODUCT DEMO</a:t>
            </a:r>
            <a:endParaRPr b="1" sz="800">
              <a:solidFill>
                <a:srgbClr val="9A6C28"/>
              </a:solidFill>
              <a:latin typeface="Avenir"/>
              <a:ea typeface="Avenir"/>
              <a:cs typeface="Avenir"/>
              <a:sym typeface="Avenir"/>
            </a:endParaRPr>
          </a:p>
        </p:txBody>
      </p:sp>
      <p:pic>
        <p:nvPicPr>
          <p:cNvPr id="235" name="Google Shape;235;p34" title="lawyer-tycoon-slide11-map-districts.gif"/>
          <p:cNvPicPr preferRelativeResize="0"/>
          <p:nvPr/>
        </p:nvPicPr>
        <p:blipFill>
          <a:blip r:embed="rId3">
            <a:alphaModFix/>
          </a:blip>
          <a:stretch>
            <a:fillRect/>
          </a:stretch>
        </p:blipFill>
        <p:spPr>
          <a:xfrm>
            <a:off x="2994025" y="757221"/>
            <a:ext cx="5806500" cy="3629054"/>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5"/>
          <p:cNvSpPr/>
          <p:nvPr/>
        </p:nvSpPr>
        <p:spPr>
          <a:xfrm>
            <a:off x="0" y="0"/>
            <a:ext cx="9144000" cy="5143500"/>
          </a:xfrm>
          <a:prstGeom prst="rect">
            <a:avLst/>
          </a:prstGeom>
          <a:solidFill>
            <a:srgbClr val="F2EEE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1" name="Google Shape;241;p35"/>
          <p:cNvSpPr txBox="1"/>
          <p:nvPr/>
        </p:nvSpPr>
        <p:spPr>
          <a:xfrm>
            <a:off x="628489" y="320450"/>
            <a:ext cx="5486400" cy="138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sz="900">
                <a:solidFill>
                  <a:srgbClr val="9A6C28"/>
                </a:solidFill>
                <a:latin typeface="Avenir"/>
                <a:ea typeface="Avenir"/>
                <a:cs typeface="Avenir"/>
                <a:sym typeface="Avenir"/>
              </a:rPr>
              <a:t>THE GOAL</a:t>
            </a:r>
            <a:endParaRPr b="1" sz="900">
              <a:solidFill>
                <a:srgbClr val="9A6C28"/>
              </a:solidFill>
              <a:latin typeface="Avenir"/>
              <a:ea typeface="Avenir"/>
              <a:cs typeface="Avenir"/>
              <a:sym typeface="Avenir"/>
            </a:endParaRPr>
          </a:p>
        </p:txBody>
      </p:sp>
      <p:sp>
        <p:nvSpPr>
          <p:cNvPr id="242" name="Google Shape;242;p35"/>
          <p:cNvSpPr txBox="1"/>
          <p:nvPr/>
        </p:nvSpPr>
        <p:spPr>
          <a:xfrm>
            <a:off x="628489" y="562356"/>
            <a:ext cx="7887000" cy="369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sz="2400">
                <a:solidFill>
                  <a:srgbClr val="102735"/>
                </a:solidFill>
                <a:latin typeface="Georgia"/>
                <a:ea typeface="Georgia"/>
                <a:cs typeface="Georgia"/>
                <a:sym typeface="Georgia"/>
              </a:rPr>
              <a:t>Why Lawyer Tycoon is better than the rest.</a:t>
            </a:r>
            <a:endParaRPr b="1" sz="2400">
              <a:solidFill>
                <a:srgbClr val="102735"/>
              </a:solidFill>
              <a:latin typeface="Georgia"/>
              <a:ea typeface="Georgia"/>
              <a:cs typeface="Georgia"/>
              <a:sym typeface="Georgia"/>
            </a:endParaRPr>
          </a:p>
        </p:txBody>
      </p:sp>
      <p:sp>
        <p:nvSpPr>
          <p:cNvPr id="243" name="Google Shape;243;p35"/>
          <p:cNvSpPr txBox="1"/>
          <p:nvPr/>
        </p:nvSpPr>
        <p:spPr>
          <a:xfrm>
            <a:off x="681689" y="4834890"/>
            <a:ext cx="75441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9A6C28"/>
                </a:solidFill>
                <a:latin typeface="Avenir"/>
                <a:ea typeface="Avenir"/>
                <a:cs typeface="Avenir"/>
                <a:sym typeface="Avenir"/>
              </a:rPr>
              <a:t>LAWYER</a:t>
            </a:r>
            <a:r>
              <a:rPr b="1" i="0" lang="en" sz="800" u="none" cap="none" strike="noStrike">
                <a:solidFill>
                  <a:srgbClr val="9A6C28"/>
                </a:solidFill>
                <a:latin typeface="Avenir"/>
                <a:ea typeface="Avenir"/>
                <a:cs typeface="Avenir"/>
                <a:sym typeface="Avenir"/>
              </a:rPr>
              <a:t> TYCOON</a:t>
            </a:r>
            <a:endParaRPr sz="1100"/>
          </a:p>
        </p:txBody>
      </p:sp>
      <p:sp>
        <p:nvSpPr>
          <p:cNvPr id="244" name="Google Shape;244;p35"/>
          <p:cNvSpPr txBox="1"/>
          <p:nvPr/>
        </p:nvSpPr>
        <p:spPr>
          <a:xfrm>
            <a:off x="572900" y="1029625"/>
            <a:ext cx="74931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595959"/>
                </a:solidFill>
                <a:latin typeface="Avenir"/>
                <a:ea typeface="Avenir"/>
                <a:cs typeface="Avenir"/>
                <a:sym typeface="Avenir"/>
              </a:rPr>
              <a:t>We cut down the </a:t>
            </a:r>
            <a:r>
              <a:rPr b="1" lang="en" sz="1600">
                <a:solidFill>
                  <a:schemeClr val="dk1"/>
                </a:solidFill>
                <a:latin typeface="Avenir"/>
                <a:ea typeface="Avenir"/>
                <a:cs typeface="Avenir"/>
                <a:sym typeface="Avenir"/>
              </a:rPr>
              <a:t>bloat</a:t>
            </a:r>
            <a:endParaRPr b="1" sz="1600">
              <a:solidFill>
                <a:schemeClr val="dk1"/>
              </a:solidFill>
              <a:latin typeface="Avenir"/>
              <a:ea typeface="Avenir"/>
              <a:cs typeface="Avenir"/>
              <a:sym typeface="Avenir"/>
            </a:endParaRPr>
          </a:p>
        </p:txBody>
      </p:sp>
      <p:sp>
        <p:nvSpPr>
          <p:cNvPr id="245" name="Google Shape;245;p35"/>
          <p:cNvSpPr/>
          <p:nvPr/>
        </p:nvSpPr>
        <p:spPr>
          <a:xfrm>
            <a:off x="628650" y="1676400"/>
            <a:ext cx="2412900" cy="2412900"/>
          </a:xfrm>
          <a:prstGeom prst="roundRect">
            <a:avLst>
              <a:gd fmla="val 16667" name="adj"/>
            </a:avLst>
          </a:prstGeom>
          <a:solidFill>
            <a:srgbClr val="FCFBF7"/>
          </a:solidFill>
          <a:ln cap="flat" cmpd="sng" w="28575">
            <a:solidFill>
              <a:srgbClr val="DED7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6" name="Google Shape;246;p35"/>
          <p:cNvSpPr txBox="1"/>
          <p:nvPr/>
        </p:nvSpPr>
        <p:spPr>
          <a:xfrm>
            <a:off x="831750" y="2463850"/>
            <a:ext cx="2006700" cy="498000"/>
          </a:xfrm>
          <a:prstGeom prst="rect">
            <a:avLst/>
          </a:prstGeom>
          <a:noFill/>
          <a:ln>
            <a:noFill/>
          </a:ln>
        </p:spPr>
        <p:txBody>
          <a:bodyPr anchorCtr="0" anchor="t" bIns="91425" lIns="91425" spcFirstLastPara="1" rIns="91425" wrap="square" tIns="91425">
            <a:noAutofit/>
          </a:bodyPr>
          <a:lstStyle/>
          <a:p>
            <a:pPr indent="0" lvl="0" marL="0" rtl="0" algn="ctr">
              <a:lnSpc>
                <a:spcPct val="116000"/>
              </a:lnSpc>
              <a:spcBef>
                <a:spcPts val="0"/>
              </a:spcBef>
              <a:spcAft>
                <a:spcPts val="700"/>
              </a:spcAft>
              <a:buNone/>
            </a:pPr>
            <a:r>
              <a:rPr b="1" lang="en" sz="2000">
                <a:solidFill>
                  <a:srgbClr val="102735"/>
                </a:solidFill>
                <a:latin typeface="Georgia"/>
                <a:ea typeface="Georgia"/>
                <a:cs typeface="Georgia"/>
                <a:sym typeface="Georgia"/>
              </a:rPr>
              <a:t>Singular Focus</a:t>
            </a:r>
            <a:endParaRPr sz="1600">
              <a:solidFill>
                <a:srgbClr val="595959"/>
              </a:solidFill>
              <a:latin typeface="Avenir"/>
              <a:ea typeface="Avenir"/>
              <a:cs typeface="Avenir"/>
              <a:sym typeface="Avenir"/>
            </a:endParaRPr>
          </a:p>
        </p:txBody>
      </p:sp>
      <p:sp>
        <p:nvSpPr>
          <p:cNvPr id="247" name="Google Shape;247;p35"/>
          <p:cNvSpPr/>
          <p:nvPr/>
        </p:nvSpPr>
        <p:spPr>
          <a:xfrm>
            <a:off x="3244850" y="1676400"/>
            <a:ext cx="2412900" cy="2412900"/>
          </a:xfrm>
          <a:prstGeom prst="roundRect">
            <a:avLst>
              <a:gd fmla="val 16667" name="adj"/>
            </a:avLst>
          </a:prstGeom>
          <a:solidFill>
            <a:srgbClr val="FCFBF7"/>
          </a:solidFill>
          <a:ln cap="flat" cmpd="sng" w="28575">
            <a:solidFill>
              <a:srgbClr val="DED7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8" name="Google Shape;248;p35"/>
          <p:cNvSpPr txBox="1"/>
          <p:nvPr/>
        </p:nvSpPr>
        <p:spPr>
          <a:xfrm>
            <a:off x="3447950" y="2325150"/>
            <a:ext cx="2006700" cy="980700"/>
          </a:xfrm>
          <a:prstGeom prst="rect">
            <a:avLst/>
          </a:prstGeom>
          <a:noFill/>
          <a:ln>
            <a:noFill/>
          </a:ln>
        </p:spPr>
        <p:txBody>
          <a:bodyPr anchorCtr="0" anchor="t" bIns="91425" lIns="91425" spcFirstLastPara="1" rIns="91425" wrap="square" tIns="91425">
            <a:noAutofit/>
          </a:bodyPr>
          <a:lstStyle/>
          <a:p>
            <a:pPr indent="0" lvl="0" marL="0" rtl="0" algn="ctr">
              <a:lnSpc>
                <a:spcPct val="116000"/>
              </a:lnSpc>
              <a:spcBef>
                <a:spcPts val="0"/>
              </a:spcBef>
              <a:spcAft>
                <a:spcPts val="700"/>
              </a:spcAft>
              <a:buNone/>
            </a:pPr>
            <a:r>
              <a:rPr b="1" lang="en" sz="2000">
                <a:solidFill>
                  <a:srgbClr val="102735"/>
                </a:solidFill>
                <a:latin typeface="Georgia"/>
                <a:ea typeface="Georgia"/>
                <a:cs typeface="Georgia"/>
                <a:sym typeface="Georgia"/>
              </a:rPr>
              <a:t>Choices are Made for the User.</a:t>
            </a:r>
            <a:endParaRPr sz="1700">
              <a:solidFill>
                <a:srgbClr val="595959"/>
              </a:solidFill>
              <a:latin typeface="Avenir"/>
              <a:ea typeface="Avenir"/>
              <a:cs typeface="Avenir"/>
              <a:sym typeface="Avenir"/>
            </a:endParaRPr>
          </a:p>
        </p:txBody>
      </p:sp>
      <p:sp>
        <p:nvSpPr>
          <p:cNvPr id="249" name="Google Shape;249;p35"/>
          <p:cNvSpPr/>
          <p:nvPr/>
        </p:nvSpPr>
        <p:spPr>
          <a:xfrm>
            <a:off x="5861050" y="1676400"/>
            <a:ext cx="2412900" cy="2412900"/>
          </a:xfrm>
          <a:prstGeom prst="roundRect">
            <a:avLst>
              <a:gd fmla="val 16667" name="adj"/>
            </a:avLst>
          </a:prstGeom>
          <a:solidFill>
            <a:srgbClr val="FCFBF7"/>
          </a:solidFill>
          <a:ln cap="flat" cmpd="sng" w="28575">
            <a:solidFill>
              <a:srgbClr val="DED7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0" name="Google Shape;250;p35"/>
          <p:cNvSpPr txBox="1"/>
          <p:nvPr/>
        </p:nvSpPr>
        <p:spPr>
          <a:xfrm>
            <a:off x="6064150" y="2336975"/>
            <a:ext cx="2006700" cy="1092600"/>
          </a:xfrm>
          <a:prstGeom prst="rect">
            <a:avLst/>
          </a:prstGeom>
          <a:noFill/>
          <a:ln>
            <a:noFill/>
          </a:ln>
        </p:spPr>
        <p:txBody>
          <a:bodyPr anchorCtr="0" anchor="t" bIns="91425" lIns="91425" spcFirstLastPara="1" rIns="91425" wrap="square" tIns="91425">
            <a:noAutofit/>
          </a:bodyPr>
          <a:lstStyle/>
          <a:p>
            <a:pPr indent="0" lvl="0" marL="0" rtl="0" algn="ctr">
              <a:lnSpc>
                <a:spcPct val="116000"/>
              </a:lnSpc>
              <a:spcBef>
                <a:spcPts val="0"/>
              </a:spcBef>
              <a:spcAft>
                <a:spcPts val="700"/>
              </a:spcAft>
              <a:buNone/>
            </a:pPr>
            <a:r>
              <a:rPr b="1" lang="en" sz="1900">
                <a:solidFill>
                  <a:srgbClr val="102735"/>
                </a:solidFill>
                <a:latin typeface="Georgia"/>
                <a:ea typeface="Georgia"/>
                <a:cs typeface="Georgia"/>
                <a:sym typeface="Georgia"/>
              </a:rPr>
              <a:t>Motivates the User to Practice.</a:t>
            </a:r>
            <a:endParaRPr sz="1600">
              <a:solidFill>
                <a:srgbClr val="595959"/>
              </a:solidFill>
              <a:latin typeface="Avenir"/>
              <a:ea typeface="Avenir"/>
              <a:cs typeface="Avenir"/>
              <a:sym typeface="Aveni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6"/>
          <p:cNvSpPr/>
          <p:nvPr/>
        </p:nvSpPr>
        <p:spPr>
          <a:xfrm>
            <a:off x="0" y="0"/>
            <a:ext cx="9144015" cy="5143500"/>
          </a:xfrm>
          <a:prstGeom prst="rect">
            <a:avLst/>
          </a:prstGeom>
          <a:gradFill>
            <a:gsLst>
              <a:gs pos="0">
                <a:srgbClr val="101C2A"/>
              </a:gs>
              <a:gs pos="100000">
                <a:srgbClr val="1B3040"/>
              </a:gs>
            </a:gsLst>
            <a:lin ang="36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6" name="Google Shape;256;p36"/>
          <p:cNvSpPr/>
          <p:nvPr/>
        </p:nvSpPr>
        <p:spPr>
          <a:xfrm>
            <a:off x="-960083" y="1127375"/>
            <a:ext cx="4800600" cy="4800600"/>
          </a:xfrm>
          <a:prstGeom prst="ellipse">
            <a:avLst/>
          </a:prstGeom>
          <a:solidFill>
            <a:srgbClr val="2E4F55">
              <a:alpha val="2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7" name="Google Shape;257;p36"/>
          <p:cNvSpPr/>
          <p:nvPr/>
        </p:nvSpPr>
        <p:spPr>
          <a:xfrm>
            <a:off x="617236" y="480060"/>
            <a:ext cx="384058" cy="384048"/>
          </a:xfrm>
          <a:prstGeom prst="ellipse">
            <a:avLst/>
          </a:prstGeom>
          <a:solidFill>
            <a:srgbClr val="18394A"/>
          </a:solidFill>
          <a:ln cap="flat" cmpd="sng" w="15875">
            <a:solidFill>
              <a:srgbClr val="C89B4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i="0" lang="en" sz="1400" u="none" cap="none" strike="noStrike">
                <a:solidFill>
                  <a:srgbClr val="F0D27F"/>
                </a:solidFill>
                <a:latin typeface="Georgia"/>
                <a:ea typeface="Georgia"/>
                <a:cs typeface="Georgia"/>
                <a:sym typeface="Georgia"/>
              </a:rPr>
              <a:t>⚖</a:t>
            </a:r>
            <a:endParaRPr sz="1100"/>
          </a:p>
        </p:txBody>
      </p:sp>
      <p:sp>
        <p:nvSpPr>
          <p:cNvPr id="258" name="Google Shape;258;p36"/>
          <p:cNvSpPr txBox="1"/>
          <p:nvPr/>
        </p:nvSpPr>
        <p:spPr>
          <a:xfrm>
            <a:off x="1097347" y="518169"/>
            <a:ext cx="27432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rgbClr val="F4EAD2"/>
                </a:solidFill>
                <a:latin typeface="Avenir"/>
                <a:ea typeface="Avenir"/>
                <a:cs typeface="Avenir"/>
                <a:sym typeface="Avenir"/>
              </a:rPr>
              <a:t>LAWYER</a:t>
            </a:r>
            <a:endParaRPr sz="1100"/>
          </a:p>
        </p:txBody>
      </p:sp>
      <p:sp>
        <p:nvSpPr>
          <p:cNvPr id="259" name="Google Shape;259;p36"/>
          <p:cNvSpPr txBox="1"/>
          <p:nvPr/>
        </p:nvSpPr>
        <p:spPr>
          <a:xfrm>
            <a:off x="1097322" y="672084"/>
            <a:ext cx="27432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70CABB"/>
                </a:solidFill>
                <a:latin typeface="Avenir"/>
                <a:ea typeface="Avenir"/>
                <a:cs typeface="Avenir"/>
                <a:sym typeface="Avenir"/>
              </a:rPr>
              <a:t>TYCOON</a:t>
            </a:r>
            <a:endParaRPr sz="1100"/>
          </a:p>
        </p:txBody>
      </p:sp>
      <p:sp>
        <p:nvSpPr>
          <p:cNvPr id="260" name="Google Shape;260;p36"/>
          <p:cNvSpPr txBox="1"/>
          <p:nvPr/>
        </p:nvSpPr>
        <p:spPr>
          <a:xfrm>
            <a:off x="617236" y="1988820"/>
            <a:ext cx="7887000" cy="615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sz="4400">
                <a:solidFill>
                  <a:srgbClr val="F4EAD2"/>
                </a:solidFill>
                <a:latin typeface="Georgia"/>
                <a:ea typeface="Georgia"/>
                <a:cs typeface="Georgia"/>
                <a:sym typeface="Georgia"/>
              </a:rPr>
              <a:t>THANKS FOR LISTENING</a:t>
            </a:r>
            <a:endParaRPr b="1" sz="4400">
              <a:solidFill>
                <a:srgbClr val="F4EAD2"/>
              </a:solidFill>
              <a:latin typeface="Georgia"/>
              <a:ea typeface="Georgia"/>
              <a:cs typeface="Georgia"/>
              <a:sym typeface="Georgia"/>
            </a:endParaRPr>
          </a:p>
        </p:txBody>
      </p:sp>
      <p:sp>
        <p:nvSpPr>
          <p:cNvPr id="261" name="Google Shape;261;p36"/>
          <p:cNvSpPr/>
          <p:nvPr/>
        </p:nvSpPr>
        <p:spPr>
          <a:xfrm>
            <a:off x="617236" y="4526280"/>
            <a:ext cx="1645964" cy="28575"/>
          </a:xfrm>
          <a:prstGeom prst="roundRect">
            <a:avLst>
              <a:gd fmla="val 50000" name="adj"/>
            </a:avLst>
          </a:prstGeom>
          <a:solidFill>
            <a:srgbClr val="C89B4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2" name="Google Shape;262;p36"/>
          <p:cNvSpPr txBox="1"/>
          <p:nvPr/>
        </p:nvSpPr>
        <p:spPr>
          <a:xfrm>
            <a:off x="617236" y="4629150"/>
            <a:ext cx="61725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800" u="none" cap="none" strike="noStrike">
                <a:solidFill>
                  <a:srgbClr val="B9B5A8"/>
                </a:solidFill>
                <a:latin typeface="Avenir"/>
                <a:ea typeface="Avenir"/>
                <a:cs typeface="Avenir"/>
                <a:sym typeface="Avenir"/>
              </a:rPr>
              <a:t>L</a:t>
            </a:r>
            <a:r>
              <a:rPr b="1" lang="en" sz="800">
                <a:solidFill>
                  <a:srgbClr val="B9B5A8"/>
                </a:solidFill>
                <a:latin typeface="Avenir"/>
                <a:ea typeface="Avenir"/>
                <a:cs typeface="Avenir"/>
                <a:sym typeface="Avenir"/>
              </a:rPr>
              <a:t>AWYER</a:t>
            </a:r>
            <a:r>
              <a:rPr b="1" i="0" lang="en" sz="800" u="none" cap="none" strike="noStrike">
                <a:solidFill>
                  <a:srgbClr val="B9B5A8"/>
                </a:solidFill>
                <a:latin typeface="Avenir"/>
                <a:ea typeface="Avenir"/>
                <a:cs typeface="Avenir"/>
                <a:sym typeface="Avenir"/>
              </a:rPr>
              <a:t> TYCOON · L</a:t>
            </a:r>
            <a:r>
              <a:rPr b="1" lang="en" sz="800">
                <a:solidFill>
                  <a:srgbClr val="B9B5A8"/>
                </a:solidFill>
                <a:latin typeface="Avenir"/>
                <a:ea typeface="Avenir"/>
                <a:cs typeface="Avenir"/>
                <a:sym typeface="Avenir"/>
              </a:rPr>
              <a:t>SAT</a:t>
            </a:r>
            <a:r>
              <a:rPr b="1" i="0" lang="en" sz="800" u="none" cap="none" strike="noStrike">
                <a:solidFill>
                  <a:srgbClr val="B9B5A8"/>
                </a:solidFill>
                <a:latin typeface="Avenir"/>
                <a:ea typeface="Avenir"/>
                <a:cs typeface="Avenir"/>
                <a:sym typeface="Avenir"/>
              </a:rPr>
              <a:t> PREP, EVIDENCE-FIRST</a:t>
            </a:r>
            <a:endParaRPr sz="1100"/>
          </a:p>
        </p:txBody>
      </p:sp>
      <p:sp>
        <p:nvSpPr>
          <p:cNvPr id="263" name="Google Shape;263;p36"/>
          <p:cNvSpPr txBox="1"/>
          <p:nvPr/>
        </p:nvSpPr>
        <p:spPr>
          <a:xfrm>
            <a:off x="622300" y="2768600"/>
            <a:ext cx="3174900" cy="35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solidFill>
                  <a:srgbClr val="70CABB"/>
                </a:solidFill>
                <a:latin typeface="Avenir"/>
                <a:ea typeface="Avenir"/>
                <a:cs typeface="Avenir"/>
                <a:sym typeface="Avenir"/>
              </a:rPr>
              <a:t>Questions?</a:t>
            </a:r>
            <a:endParaRPr b="1" sz="1800">
              <a:solidFill>
                <a:srgbClr val="70CABB"/>
              </a:solidFill>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